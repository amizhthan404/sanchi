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 object 16"/>
          <p:cNvPicPr/>
          <p:nvPr/>
        </p:nvPicPr>
        <p:blipFill>
          <a:blip r:embed="rId2"/>
          <a:stretch/>
        </p:blipFill>
        <p:spPr>
          <a:xfrm>
            <a:off x="0" y="6376320"/>
            <a:ext cx="12188520" cy="47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bg object 17"/>
          <p:cNvSpPr/>
          <p:nvPr/>
        </p:nvSpPr>
        <p:spPr>
          <a:xfrm>
            <a:off x="0" y="6354720"/>
            <a:ext cx="12191040" cy="502560"/>
          </a:xfrm>
          <a:custGeom>
            <a:avLst/>
            <a:gdLst>
              <a:gd name="textAreaLeft" fmla="*/ 0 w 12191040"/>
              <a:gd name="textAreaRight" fmla="*/ 12192120 w 12191040"/>
              <a:gd name="textAreaTop" fmla="*/ 0 h 502560"/>
              <a:gd name="textAreaBottom" fmla="*/ 503640 h 502560"/>
            </a:gdLst>
            <a:ahLst/>
            <a:cxnLst/>
            <a:rect l="textAreaLeft" t="textAreaTop" r="textAreaRight" b="textAreaBottom"/>
            <a:pathLst>
              <a:path w="12192000" h="503554">
                <a:moveTo>
                  <a:pt x="12192000" y="0"/>
                </a:moveTo>
                <a:lnTo>
                  <a:pt x="0" y="0"/>
                </a:lnTo>
                <a:lnTo>
                  <a:pt x="0" y="503237"/>
                </a:lnTo>
                <a:lnTo>
                  <a:pt x="12192000" y="5032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2126160"/>
            <a:ext cx="10362240" cy="42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4145400" y="6378120"/>
            <a:ext cx="3900240" cy="34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dt" idx="2"/>
          </p:nvPr>
        </p:nvSpPr>
        <p:spPr>
          <a:xfrm>
            <a:off x="609480" y="6378120"/>
            <a:ext cx="2802960" cy="34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sldNum" idx="3"/>
          </p:nvPr>
        </p:nvSpPr>
        <p:spPr>
          <a:xfrm>
            <a:off x="11375640" y="6464520"/>
            <a:ext cx="165240" cy="17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8160" indent="0" algn="l">
              <a:lnSpc>
                <a:spcPts val="1239"/>
              </a:lnSpc>
              <a:buNone/>
              <a:tabLst>
                <a:tab pos="0" algn="l"/>
              </a:tabLst>
              <a:def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marL="38160" indent="0" algn="l">
              <a:lnSpc>
                <a:spcPts val="1239"/>
              </a:lnSpc>
              <a:buNone/>
              <a:tabLst>
                <a:tab pos="0" algn="l"/>
              </a:tabLst>
            </a:pPr>
            <a:fld id="{CAC0860A-4BE2-4702-ACA1-16A2B051B95C}" type="slidenum">
              <a: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g object 16" hidden="1"/>
          <p:cNvPicPr/>
          <p:nvPr/>
        </p:nvPicPr>
        <p:blipFill>
          <a:blip r:embed="rId2"/>
          <a:stretch/>
        </p:blipFill>
        <p:spPr>
          <a:xfrm>
            <a:off x="0" y="6376320"/>
            <a:ext cx="12188520" cy="47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bg object 17" hidden="1"/>
          <p:cNvSpPr/>
          <p:nvPr/>
        </p:nvSpPr>
        <p:spPr>
          <a:xfrm>
            <a:off x="0" y="6354720"/>
            <a:ext cx="12191040" cy="502560"/>
          </a:xfrm>
          <a:custGeom>
            <a:avLst/>
            <a:gdLst>
              <a:gd name="textAreaLeft" fmla="*/ 0 w 12191040"/>
              <a:gd name="textAreaRight" fmla="*/ 12192120 w 12191040"/>
              <a:gd name="textAreaTop" fmla="*/ 0 h 502560"/>
              <a:gd name="textAreaBottom" fmla="*/ 503640 h 502560"/>
            </a:gdLst>
            <a:ahLst/>
            <a:cxnLst/>
            <a:rect l="textAreaLeft" t="textAreaTop" r="textAreaRight" b="textAreaBottom"/>
            <a:pathLst>
              <a:path w="12192000" h="503554">
                <a:moveTo>
                  <a:pt x="12192000" y="0"/>
                </a:moveTo>
                <a:lnTo>
                  <a:pt x="0" y="0"/>
                </a:lnTo>
                <a:lnTo>
                  <a:pt x="0" y="503237"/>
                </a:lnTo>
                <a:lnTo>
                  <a:pt x="12192000" y="5032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535560" y="96480"/>
            <a:ext cx="511992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10040" y="1253520"/>
            <a:ext cx="10170360" cy="477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24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ftr" idx="4"/>
          </p:nvPr>
        </p:nvSpPr>
        <p:spPr>
          <a:xfrm>
            <a:off x="4145400" y="6378120"/>
            <a:ext cx="3900240" cy="34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" name="PlaceHolder 4"/>
          <p:cNvSpPr>
            <a:spLocks noGrp="1"/>
          </p:cNvSpPr>
          <p:nvPr>
            <p:ph type="dt" idx="5"/>
          </p:nvPr>
        </p:nvSpPr>
        <p:spPr>
          <a:xfrm>
            <a:off x="609480" y="6378120"/>
            <a:ext cx="2802960" cy="34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11375640" y="6464520"/>
            <a:ext cx="165240" cy="17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8160" indent="0" algn="l">
              <a:lnSpc>
                <a:spcPts val="1239"/>
              </a:lnSpc>
              <a:buNone/>
              <a:tabLst>
                <a:tab pos="0" algn="l"/>
              </a:tabLst>
              <a:def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marL="38160" indent="0" algn="l">
              <a:lnSpc>
                <a:spcPts val="1239"/>
              </a:lnSpc>
              <a:buNone/>
              <a:tabLst>
                <a:tab pos="0" algn="l"/>
              </a:tabLst>
            </a:pPr>
            <a:fld id="{960336F9-ECBF-4FAE-8314-8FED66F440E9}" type="slidenum">
              <a: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g object 16"/>
          <p:cNvPicPr/>
          <p:nvPr/>
        </p:nvPicPr>
        <p:blipFill>
          <a:blip r:embed="rId2"/>
          <a:stretch/>
        </p:blipFill>
        <p:spPr>
          <a:xfrm>
            <a:off x="0" y="6376320"/>
            <a:ext cx="12188520" cy="47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bg object 17"/>
          <p:cNvSpPr/>
          <p:nvPr/>
        </p:nvSpPr>
        <p:spPr>
          <a:xfrm>
            <a:off x="0" y="6354720"/>
            <a:ext cx="12191040" cy="502560"/>
          </a:xfrm>
          <a:custGeom>
            <a:avLst/>
            <a:gdLst>
              <a:gd name="textAreaLeft" fmla="*/ 0 w 12191040"/>
              <a:gd name="textAreaRight" fmla="*/ 12192120 w 12191040"/>
              <a:gd name="textAreaTop" fmla="*/ 0 h 502560"/>
              <a:gd name="textAreaBottom" fmla="*/ 503640 h 502560"/>
            </a:gdLst>
            <a:ahLst/>
            <a:cxnLst/>
            <a:rect l="textAreaLeft" t="textAreaTop" r="textAreaRight" b="textAreaBottom"/>
            <a:pathLst>
              <a:path w="12192000" h="503554">
                <a:moveTo>
                  <a:pt x="12192000" y="0"/>
                </a:moveTo>
                <a:lnTo>
                  <a:pt x="0" y="0"/>
                </a:lnTo>
                <a:lnTo>
                  <a:pt x="0" y="503237"/>
                </a:lnTo>
                <a:lnTo>
                  <a:pt x="12192000" y="5032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535560" y="96480"/>
            <a:ext cx="511992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5302440" cy="531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24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78760" y="1577520"/>
            <a:ext cx="5302440" cy="531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24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20" name="PlaceHolder 4"/>
          <p:cNvSpPr>
            <a:spLocks noGrp="1"/>
          </p:cNvSpPr>
          <p:nvPr>
            <p:ph type="ftr" idx="7"/>
          </p:nvPr>
        </p:nvSpPr>
        <p:spPr>
          <a:xfrm>
            <a:off x="4145400" y="6378120"/>
            <a:ext cx="3900240" cy="34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dt" idx="8"/>
          </p:nvPr>
        </p:nvSpPr>
        <p:spPr>
          <a:xfrm>
            <a:off x="609480" y="6378120"/>
            <a:ext cx="2802960" cy="34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9"/>
          </p:nvPr>
        </p:nvSpPr>
        <p:spPr>
          <a:xfrm>
            <a:off x="11375640" y="6464520"/>
            <a:ext cx="165240" cy="17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8160" indent="0" algn="l">
              <a:lnSpc>
                <a:spcPts val="1239"/>
              </a:lnSpc>
              <a:buNone/>
              <a:tabLst>
                <a:tab pos="0" algn="l"/>
              </a:tabLst>
              <a:def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marL="38160" indent="0" algn="l">
              <a:lnSpc>
                <a:spcPts val="1239"/>
              </a:lnSpc>
              <a:buNone/>
              <a:tabLst>
                <a:tab pos="0" algn="l"/>
              </a:tabLst>
            </a:pPr>
            <a:fld id="{C6FCE8E0-61AD-4D02-84D3-51A74D4DBCC8}" type="slidenum">
              <a: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bg object 16"/>
          <p:cNvPicPr/>
          <p:nvPr/>
        </p:nvPicPr>
        <p:blipFill>
          <a:blip r:embed="rId2"/>
          <a:stretch/>
        </p:blipFill>
        <p:spPr>
          <a:xfrm>
            <a:off x="0" y="6376320"/>
            <a:ext cx="12188520" cy="47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bg object 17"/>
          <p:cNvSpPr/>
          <p:nvPr/>
        </p:nvSpPr>
        <p:spPr>
          <a:xfrm>
            <a:off x="0" y="6354720"/>
            <a:ext cx="12191040" cy="502560"/>
          </a:xfrm>
          <a:custGeom>
            <a:avLst/>
            <a:gdLst>
              <a:gd name="textAreaLeft" fmla="*/ 0 w 12191040"/>
              <a:gd name="textAreaRight" fmla="*/ 12192120 w 12191040"/>
              <a:gd name="textAreaTop" fmla="*/ 0 h 502560"/>
              <a:gd name="textAreaBottom" fmla="*/ 503640 h 502560"/>
            </a:gdLst>
            <a:ahLst/>
            <a:cxnLst/>
            <a:rect l="textAreaLeft" t="textAreaTop" r="textAreaRight" b="textAreaBottom"/>
            <a:pathLst>
              <a:path w="12192000" h="503554">
                <a:moveTo>
                  <a:pt x="12192000" y="0"/>
                </a:moveTo>
                <a:lnTo>
                  <a:pt x="0" y="0"/>
                </a:lnTo>
                <a:lnTo>
                  <a:pt x="0" y="503237"/>
                </a:lnTo>
                <a:lnTo>
                  <a:pt x="12192000" y="5032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535560" y="96480"/>
            <a:ext cx="511992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ftr" idx="10"/>
          </p:nvPr>
        </p:nvSpPr>
        <p:spPr>
          <a:xfrm>
            <a:off x="4145400" y="6378120"/>
            <a:ext cx="3900240" cy="34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dt" idx="11"/>
          </p:nvPr>
        </p:nvSpPr>
        <p:spPr>
          <a:xfrm>
            <a:off x="609480" y="6378120"/>
            <a:ext cx="2802960" cy="34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sldNum" idx="12"/>
          </p:nvPr>
        </p:nvSpPr>
        <p:spPr>
          <a:xfrm>
            <a:off x="11375640" y="6464520"/>
            <a:ext cx="165240" cy="17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8160" indent="0" algn="l">
              <a:lnSpc>
                <a:spcPts val="1239"/>
              </a:lnSpc>
              <a:buNone/>
              <a:tabLst>
                <a:tab pos="0" algn="l"/>
              </a:tabLst>
              <a:def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marL="38160" indent="0" algn="l">
              <a:lnSpc>
                <a:spcPts val="1239"/>
              </a:lnSpc>
              <a:buNone/>
              <a:tabLst>
                <a:tab pos="0" algn="l"/>
              </a:tabLst>
            </a:pPr>
            <a:fld id="{A8D89059-C3BF-40F1-8FC8-7508CC4C9C25}" type="slidenum">
              <a: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bg object 16" hidden="1"/>
          <p:cNvPicPr/>
          <p:nvPr/>
        </p:nvPicPr>
        <p:blipFill>
          <a:blip r:embed="rId2"/>
          <a:stretch/>
        </p:blipFill>
        <p:spPr>
          <a:xfrm>
            <a:off x="0" y="6376320"/>
            <a:ext cx="12188520" cy="47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bg object 17" hidden="1"/>
          <p:cNvSpPr/>
          <p:nvPr/>
        </p:nvSpPr>
        <p:spPr>
          <a:xfrm>
            <a:off x="0" y="6354720"/>
            <a:ext cx="12191040" cy="502560"/>
          </a:xfrm>
          <a:custGeom>
            <a:avLst/>
            <a:gdLst>
              <a:gd name="textAreaLeft" fmla="*/ 0 w 12191040"/>
              <a:gd name="textAreaRight" fmla="*/ 12192120 w 12191040"/>
              <a:gd name="textAreaTop" fmla="*/ 0 h 502560"/>
              <a:gd name="textAreaBottom" fmla="*/ 503640 h 502560"/>
            </a:gdLst>
            <a:ahLst/>
            <a:cxnLst/>
            <a:rect l="textAreaLeft" t="textAreaTop" r="textAreaRight" b="textAreaBottom"/>
            <a:pathLst>
              <a:path w="12192000" h="503554">
                <a:moveTo>
                  <a:pt x="12192000" y="0"/>
                </a:moveTo>
                <a:lnTo>
                  <a:pt x="0" y="0"/>
                </a:lnTo>
                <a:lnTo>
                  <a:pt x="0" y="503237"/>
                </a:lnTo>
                <a:lnTo>
                  <a:pt x="12192000" y="5032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" name="bg object 16"/>
          <p:cNvPicPr/>
          <p:nvPr/>
        </p:nvPicPr>
        <p:blipFill>
          <a:blip r:embed="rId3"/>
          <a:stretch/>
        </p:blipFill>
        <p:spPr>
          <a:xfrm>
            <a:off x="4123800" y="3044160"/>
            <a:ext cx="3858840" cy="261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bg object 17"/>
          <p:cNvPicPr/>
          <p:nvPr/>
        </p:nvPicPr>
        <p:blipFill>
          <a:blip r:embed="rId2"/>
          <a:stretch/>
        </p:blipFill>
        <p:spPr>
          <a:xfrm>
            <a:off x="0" y="6376320"/>
            <a:ext cx="12188520" cy="47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bg object 18"/>
          <p:cNvSpPr/>
          <p:nvPr/>
        </p:nvSpPr>
        <p:spPr>
          <a:xfrm>
            <a:off x="0" y="6354720"/>
            <a:ext cx="12191040" cy="502560"/>
          </a:xfrm>
          <a:custGeom>
            <a:avLst/>
            <a:gdLst>
              <a:gd name="textAreaLeft" fmla="*/ 0 w 12191040"/>
              <a:gd name="textAreaRight" fmla="*/ 12192120 w 12191040"/>
              <a:gd name="textAreaTop" fmla="*/ 0 h 502560"/>
              <a:gd name="textAreaBottom" fmla="*/ 503640 h 502560"/>
            </a:gdLst>
            <a:ahLst/>
            <a:cxnLst/>
            <a:rect l="textAreaLeft" t="textAreaTop" r="textAreaRight" b="textAreaBottom"/>
            <a:pathLst>
              <a:path w="12192000" h="503554">
                <a:moveTo>
                  <a:pt x="12192000" y="0"/>
                </a:moveTo>
                <a:lnTo>
                  <a:pt x="0" y="0"/>
                </a:lnTo>
                <a:lnTo>
                  <a:pt x="0" y="503237"/>
                </a:lnTo>
                <a:lnTo>
                  <a:pt x="12192000" y="5032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" name="bg object 19"/>
          <p:cNvPicPr/>
          <p:nvPr/>
        </p:nvPicPr>
        <p:blipFill>
          <a:blip r:embed="rId4"/>
          <a:stretch/>
        </p:blipFill>
        <p:spPr>
          <a:xfrm>
            <a:off x="10762560" y="144720"/>
            <a:ext cx="1272240" cy="58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ftr" idx="13"/>
          </p:nvPr>
        </p:nvSpPr>
        <p:spPr>
          <a:xfrm>
            <a:off x="4145400" y="6378120"/>
            <a:ext cx="3900240" cy="34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dt" idx="14"/>
          </p:nvPr>
        </p:nvSpPr>
        <p:spPr>
          <a:xfrm>
            <a:off x="609480" y="6378120"/>
            <a:ext cx="2802960" cy="34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15"/>
          </p:nvPr>
        </p:nvSpPr>
        <p:spPr>
          <a:xfrm>
            <a:off x="11375640" y="6464520"/>
            <a:ext cx="165240" cy="17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8160" indent="0" algn="l">
              <a:lnSpc>
                <a:spcPts val="1239"/>
              </a:lnSpc>
              <a:buNone/>
              <a:tabLst>
                <a:tab pos="0" algn="l"/>
              </a:tabLst>
              <a:def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marL="38160" indent="0" algn="l">
              <a:lnSpc>
                <a:spcPts val="1239"/>
              </a:lnSpc>
              <a:buNone/>
              <a:tabLst>
                <a:tab pos="0" algn="l"/>
              </a:tabLst>
            </a:pPr>
            <a:fld id="{59FF00DE-82E0-4B2D-BA37-90E0B180A1E1}" type="slidenum">
              <a: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bg object 16" hidden="1"/>
          <p:cNvPicPr/>
          <p:nvPr/>
        </p:nvPicPr>
        <p:blipFill>
          <a:blip r:embed="rId2"/>
          <a:stretch/>
        </p:blipFill>
        <p:spPr>
          <a:xfrm>
            <a:off x="0" y="6376320"/>
            <a:ext cx="12188520" cy="47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bg object 17" hidden="1"/>
          <p:cNvSpPr/>
          <p:nvPr/>
        </p:nvSpPr>
        <p:spPr>
          <a:xfrm>
            <a:off x="0" y="6354720"/>
            <a:ext cx="12191040" cy="502560"/>
          </a:xfrm>
          <a:custGeom>
            <a:avLst/>
            <a:gdLst>
              <a:gd name="textAreaLeft" fmla="*/ 0 w 12191040"/>
              <a:gd name="textAreaRight" fmla="*/ 12192120 w 12191040"/>
              <a:gd name="textAreaTop" fmla="*/ 0 h 502560"/>
              <a:gd name="textAreaBottom" fmla="*/ 503640 h 502560"/>
            </a:gdLst>
            <a:ahLst/>
            <a:cxnLst/>
            <a:rect l="textAreaLeft" t="textAreaTop" r="textAreaRight" b="textAreaBottom"/>
            <a:pathLst>
              <a:path w="12192000" h="503554">
                <a:moveTo>
                  <a:pt x="12192000" y="0"/>
                </a:moveTo>
                <a:lnTo>
                  <a:pt x="0" y="0"/>
                </a:lnTo>
                <a:lnTo>
                  <a:pt x="0" y="503237"/>
                </a:lnTo>
                <a:lnTo>
                  <a:pt x="12192000" y="5032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" name="bg object 16"/>
          <p:cNvPicPr/>
          <p:nvPr/>
        </p:nvPicPr>
        <p:blipFill>
          <a:blip r:embed="rId3"/>
          <a:stretch/>
        </p:blipFill>
        <p:spPr>
          <a:xfrm>
            <a:off x="4123800" y="3044160"/>
            <a:ext cx="3858840" cy="261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bg object 17"/>
          <p:cNvPicPr/>
          <p:nvPr/>
        </p:nvPicPr>
        <p:blipFill>
          <a:blip r:embed="rId2"/>
          <a:stretch/>
        </p:blipFill>
        <p:spPr>
          <a:xfrm>
            <a:off x="0" y="6376320"/>
            <a:ext cx="12188520" cy="47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bg object 18"/>
          <p:cNvSpPr/>
          <p:nvPr/>
        </p:nvSpPr>
        <p:spPr>
          <a:xfrm>
            <a:off x="0" y="6354720"/>
            <a:ext cx="12191040" cy="502560"/>
          </a:xfrm>
          <a:custGeom>
            <a:avLst/>
            <a:gdLst>
              <a:gd name="textAreaLeft" fmla="*/ 0 w 12191040"/>
              <a:gd name="textAreaRight" fmla="*/ 12192120 w 12191040"/>
              <a:gd name="textAreaTop" fmla="*/ 0 h 502560"/>
              <a:gd name="textAreaBottom" fmla="*/ 503640 h 502560"/>
            </a:gdLst>
            <a:ahLst/>
            <a:cxnLst/>
            <a:rect l="textAreaLeft" t="textAreaTop" r="textAreaRight" b="textAreaBottom"/>
            <a:pathLst>
              <a:path w="12192000" h="503554">
                <a:moveTo>
                  <a:pt x="12192000" y="0"/>
                </a:moveTo>
                <a:lnTo>
                  <a:pt x="0" y="0"/>
                </a:lnTo>
                <a:lnTo>
                  <a:pt x="0" y="503237"/>
                </a:lnTo>
                <a:lnTo>
                  <a:pt x="12192000" y="5032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" name="bg object 19"/>
          <p:cNvPicPr/>
          <p:nvPr/>
        </p:nvPicPr>
        <p:blipFill>
          <a:blip r:embed="rId4"/>
          <a:stretch/>
        </p:blipFill>
        <p:spPr>
          <a:xfrm>
            <a:off x="10762560" y="144720"/>
            <a:ext cx="1272240" cy="58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ftr" idx="16"/>
          </p:nvPr>
        </p:nvSpPr>
        <p:spPr>
          <a:xfrm>
            <a:off x="4145400" y="6378120"/>
            <a:ext cx="3900240" cy="34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dt" idx="17"/>
          </p:nvPr>
        </p:nvSpPr>
        <p:spPr>
          <a:xfrm>
            <a:off x="609480" y="6378120"/>
            <a:ext cx="2802960" cy="34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18"/>
          </p:nvPr>
        </p:nvSpPr>
        <p:spPr>
          <a:xfrm>
            <a:off x="11375640" y="6464520"/>
            <a:ext cx="165240" cy="17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8160" indent="0" algn="l">
              <a:lnSpc>
                <a:spcPts val="1239"/>
              </a:lnSpc>
              <a:buNone/>
              <a:tabLst>
                <a:tab pos="0" algn="l"/>
              </a:tabLst>
              <a:def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marL="38160" indent="0" algn="l">
              <a:lnSpc>
                <a:spcPts val="1239"/>
              </a:lnSpc>
              <a:buNone/>
              <a:tabLst>
                <a:tab pos="0" algn="l"/>
              </a:tabLst>
            </a:pPr>
            <a:fld id="{D269AE86-F53A-4D97-B45F-44C2C659EC5F}" type="slidenum">
              <a: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914400" y="2126160"/>
            <a:ext cx="103622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3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ftr" idx="19"/>
          </p:nvPr>
        </p:nvSpPr>
        <p:spPr>
          <a:xfrm>
            <a:off x="4145400" y="6378120"/>
            <a:ext cx="390024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dt" idx="20"/>
          </p:nvPr>
        </p:nvSpPr>
        <p:spPr>
          <a:xfrm>
            <a:off x="609480" y="6378120"/>
            <a:ext cx="280296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sldNum" idx="21"/>
          </p:nvPr>
        </p:nvSpPr>
        <p:spPr>
          <a:xfrm>
            <a:off x="8778240" y="6378120"/>
            <a:ext cx="280296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738D8F0-700F-49DB-9AF7-06E1A0A37F54}" type="slidenum">
              <a:rPr lang="en-IN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554920" y="153360"/>
            <a:ext cx="7081200" cy="55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3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08520" y="1724040"/>
            <a:ext cx="6245640" cy="25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6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6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6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6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6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6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6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24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32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6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60948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9144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6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21932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152424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18288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ftr" idx="22"/>
          </p:nvPr>
        </p:nvSpPr>
        <p:spPr>
          <a:xfrm>
            <a:off x="4145400" y="6378120"/>
            <a:ext cx="390024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23"/>
          </p:nvPr>
        </p:nvSpPr>
        <p:spPr>
          <a:xfrm>
            <a:off x="609480" y="6378120"/>
            <a:ext cx="280296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24"/>
          </p:nvPr>
        </p:nvSpPr>
        <p:spPr>
          <a:xfrm>
            <a:off x="8778240" y="6378120"/>
            <a:ext cx="280296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EF489CB-8A01-47DA-8571-D55413805870}" type="slidenum">
              <a:rPr lang="en-IN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554920" y="153360"/>
            <a:ext cx="7081200" cy="55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3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5302440" cy="34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24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32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60948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9144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21932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152424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18288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78760" y="1577520"/>
            <a:ext cx="5302440" cy="347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24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32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60948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9144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21932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152424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18288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63" name="PlaceHolder 4"/>
          <p:cNvSpPr>
            <a:spLocks noGrp="1"/>
          </p:cNvSpPr>
          <p:nvPr>
            <p:ph type="ftr" idx="25"/>
          </p:nvPr>
        </p:nvSpPr>
        <p:spPr>
          <a:xfrm>
            <a:off x="4145400" y="6378120"/>
            <a:ext cx="390024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4" name="PlaceHolder 5"/>
          <p:cNvSpPr>
            <a:spLocks noGrp="1"/>
          </p:cNvSpPr>
          <p:nvPr>
            <p:ph type="dt" idx="26"/>
          </p:nvPr>
        </p:nvSpPr>
        <p:spPr>
          <a:xfrm>
            <a:off x="609480" y="6378120"/>
            <a:ext cx="280296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27"/>
          </p:nvPr>
        </p:nvSpPr>
        <p:spPr>
          <a:xfrm>
            <a:off x="8778240" y="6378120"/>
            <a:ext cx="280296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0731408-B85D-43D9-A73D-D3AB8D564847}" type="slidenum">
              <a:rPr lang="en-IN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554920" y="153360"/>
            <a:ext cx="7081200" cy="55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3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ftr" idx="28"/>
          </p:nvPr>
        </p:nvSpPr>
        <p:spPr>
          <a:xfrm>
            <a:off x="4145400" y="6378120"/>
            <a:ext cx="390024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8" name="PlaceHolder 3"/>
          <p:cNvSpPr>
            <a:spLocks noGrp="1"/>
          </p:cNvSpPr>
          <p:nvPr>
            <p:ph type="dt" idx="29"/>
          </p:nvPr>
        </p:nvSpPr>
        <p:spPr>
          <a:xfrm>
            <a:off x="609480" y="6378120"/>
            <a:ext cx="280296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30"/>
          </p:nvPr>
        </p:nvSpPr>
        <p:spPr>
          <a:xfrm>
            <a:off x="8778240" y="6378120"/>
            <a:ext cx="280296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21C8BC7-7773-4E2F-8689-4356167DB126}" type="slidenum">
              <a:rPr lang="en-IN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ftr" idx="31"/>
          </p:nvPr>
        </p:nvSpPr>
        <p:spPr>
          <a:xfrm>
            <a:off x="4145400" y="6378120"/>
            <a:ext cx="390024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1" name="PlaceHolder 2"/>
          <p:cNvSpPr>
            <a:spLocks noGrp="1"/>
          </p:cNvSpPr>
          <p:nvPr>
            <p:ph type="dt" idx="32"/>
          </p:nvPr>
        </p:nvSpPr>
        <p:spPr>
          <a:xfrm>
            <a:off x="609480" y="6378120"/>
            <a:ext cx="280296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33"/>
          </p:nvPr>
        </p:nvSpPr>
        <p:spPr>
          <a:xfrm>
            <a:off x="8778240" y="6378120"/>
            <a:ext cx="2802960" cy="27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11BAF7D-86B3-4D19-A427-5190AAF51BB4}" type="slidenum">
              <a:rPr lang="en-IN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izhthan404/SANCHI.git" TargetMode="External"/><Relationship Id="rId7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s://sih-2026-mpals-main.onrender.com/" TargetMode="External"/><Relationship Id="rId4" Type="http://schemas.openxmlformats.org/officeDocument/2006/relationships/hyperlink" Target="https://youtu.be/kuiuq0MSW7A?si=88PPZAyUF5l1LKbk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07/s41060-026-01079-9" TargetMode="External"/><Relationship Id="rId3" Type="http://schemas.openxmlformats.org/officeDocument/2006/relationships/image" Target="../media/image19.png"/><Relationship Id="rId7" Type="http://schemas.openxmlformats.org/officeDocument/2006/relationships/hyperlink" Target="https://cag.gov.in/cen/mumbai/en/audit-report/details/234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i.org/10.5089/9798229021470.001" TargetMode="External"/><Relationship Id="rId5" Type="http://schemas.openxmlformats.org/officeDocument/2006/relationships/hyperlink" Target="https://www.mplads.gov.in/" TargetMode="External"/><Relationship Id="rId4" Type="http://schemas.openxmlformats.org/officeDocument/2006/relationships/hyperlink" Target="https://mplads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object 2"/>
          <p:cNvGrpSpPr/>
          <p:nvPr/>
        </p:nvGrpSpPr>
        <p:grpSpPr>
          <a:xfrm>
            <a:off x="6908760" y="1227600"/>
            <a:ext cx="4634280" cy="5155200"/>
            <a:chOff x="6908760" y="1227600"/>
            <a:chExt cx="4634280" cy="5155200"/>
          </a:xfrm>
        </p:grpSpPr>
        <p:sp>
          <p:nvSpPr>
            <p:cNvPr id="74" name="object 3"/>
            <p:cNvSpPr/>
            <p:nvPr/>
          </p:nvSpPr>
          <p:spPr>
            <a:xfrm>
              <a:off x="6908760" y="1227600"/>
              <a:ext cx="4634280" cy="5155200"/>
            </a:xfrm>
            <a:custGeom>
              <a:avLst/>
              <a:gdLst>
                <a:gd name="textAreaLeft" fmla="*/ 0 w 4634280"/>
                <a:gd name="textAreaRight" fmla="*/ 4635360 w 4634280"/>
                <a:gd name="textAreaTop" fmla="*/ 0 h 5155200"/>
                <a:gd name="textAreaBottom" fmla="*/ 5156280 h 5155200"/>
              </a:gdLst>
              <a:ahLst/>
              <a:cxnLst/>
              <a:rect l="textAreaLeft" t="textAreaTop" r="textAreaRight" b="textAreaBottom"/>
              <a:pathLst>
                <a:path w="6953250" h="7734300">
                  <a:moveTo>
                    <a:pt x="5273432" y="7734299"/>
                  </a:moveTo>
                  <a:lnTo>
                    <a:pt x="2798804" y="7734299"/>
                  </a:lnTo>
                  <a:lnTo>
                    <a:pt x="2755486" y="7731510"/>
                  </a:lnTo>
                  <a:lnTo>
                    <a:pt x="2713181" y="7723274"/>
                  </a:lnTo>
                  <a:lnTo>
                    <a:pt x="2672110" y="7709783"/>
                  </a:lnTo>
                  <a:lnTo>
                    <a:pt x="2632490" y="7691230"/>
                  </a:lnTo>
                  <a:lnTo>
                    <a:pt x="2594538" y="7667807"/>
                  </a:lnTo>
                  <a:lnTo>
                    <a:pt x="2558471" y="7639707"/>
                  </a:lnTo>
                  <a:lnTo>
                    <a:pt x="2524505" y="7607124"/>
                  </a:lnTo>
                  <a:lnTo>
                    <a:pt x="2492855" y="7570250"/>
                  </a:lnTo>
                  <a:lnTo>
                    <a:pt x="2463739" y="7529278"/>
                  </a:lnTo>
                  <a:lnTo>
                    <a:pt x="2437372" y="7484400"/>
                  </a:lnTo>
                  <a:lnTo>
                    <a:pt x="2413970" y="7435810"/>
                  </a:lnTo>
                  <a:lnTo>
                    <a:pt x="1179322" y="4586121"/>
                  </a:lnTo>
                  <a:lnTo>
                    <a:pt x="1160955" y="4540722"/>
                  </a:lnTo>
                  <a:lnTo>
                    <a:pt x="1145927" y="4493597"/>
                  </a:lnTo>
                  <a:lnTo>
                    <a:pt x="1134239" y="4445090"/>
                  </a:lnTo>
                  <a:lnTo>
                    <a:pt x="1125891" y="4395549"/>
                  </a:lnTo>
                  <a:lnTo>
                    <a:pt x="1120882" y="4345318"/>
                  </a:lnTo>
                  <a:lnTo>
                    <a:pt x="1119212" y="4294743"/>
                  </a:lnTo>
                  <a:lnTo>
                    <a:pt x="1120882" y="4244170"/>
                  </a:lnTo>
                  <a:lnTo>
                    <a:pt x="1125891" y="4193945"/>
                  </a:lnTo>
                  <a:lnTo>
                    <a:pt x="1134239" y="4144414"/>
                  </a:lnTo>
                  <a:lnTo>
                    <a:pt x="1145927" y="4095921"/>
                  </a:lnTo>
                  <a:lnTo>
                    <a:pt x="1160955" y="4048813"/>
                  </a:lnTo>
                  <a:lnTo>
                    <a:pt x="1179322" y="4003436"/>
                  </a:lnTo>
                  <a:lnTo>
                    <a:pt x="1676379" y="2856167"/>
                  </a:lnTo>
                  <a:lnTo>
                    <a:pt x="1675047" y="2855405"/>
                  </a:lnTo>
                  <a:lnTo>
                    <a:pt x="1636865" y="2815963"/>
                  </a:lnTo>
                  <a:lnTo>
                    <a:pt x="1606894" y="2763658"/>
                  </a:lnTo>
                  <a:lnTo>
                    <a:pt x="1088420" y="1566943"/>
                  </a:lnTo>
                  <a:lnTo>
                    <a:pt x="1072246" y="1520004"/>
                  </a:lnTo>
                  <a:lnTo>
                    <a:pt x="1064159" y="1470047"/>
                  </a:lnTo>
                  <a:lnTo>
                    <a:pt x="1064159" y="1419084"/>
                  </a:lnTo>
                  <a:lnTo>
                    <a:pt x="1072246" y="1369127"/>
                  </a:lnTo>
                  <a:lnTo>
                    <a:pt x="1088420" y="1322188"/>
                  </a:lnTo>
                  <a:lnTo>
                    <a:pt x="1606946" y="125378"/>
                  </a:lnTo>
                  <a:lnTo>
                    <a:pt x="1630265" y="82571"/>
                  </a:lnTo>
                  <a:lnTo>
                    <a:pt x="1659083" y="47722"/>
                  </a:lnTo>
                  <a:lnTo>
                    <a:pt x="1692396" y="21776"/>
                  </a:lnTo>
                  <a:lnTo>
                    <a:pt x="1729255" y="5586"/>
                  </a:lnTo>
                  <a:lnTo>
                    <a:pt x="1768709" y="0"/>
                  </a:lnTo>
                  <a:lnTo>
                    <a:pt x="2807942" y="0"/>
                  </a:lnTo>
                  <a:lnTo>
                    <a:pt x="2855889" y="8671"/>
                  </a:lnTo>
                  <a:lnTo>
                    <a:pt x="2900248" y="33571"/>
                  </a:lnTo>
                  <a:lnTo>
                    <a:pt x="2938289" y="73030"/>
                  </a:lnTo>
                  <a:lnTo>
                    <a:pt x="2967282" y="125378"/>
                  </a:lnTo>
                  <a:lnTo>
                    <a:pt x="2984068" y="163963"/>
                  </a:lnTo>
                  <a:lnTo>
                    <a:pt x="1827534" y="163963"/>
                  </a:lnTo>
                  <a:lnTo>
                    <a:pt x="1784162" y="171647"/>
                  </a:lnTo>
                  <a:lnTo>
                    <a:pt x="1744699" y="193712"/>
                  </a:lnTo>
                  <a:lnTo>
                    <a:pt x="1710839" y="228674"/>
                  </a:lnTo>
                  <a:lnTo>
                    <a:pt x="1684280" y="275050"/>
                  </a:lnTo>
                  <a:lnTo>
                    <a:pt x="1224630" y="1336003"/>
                  </a:lnTo>
                  <a:lnTo>
                    <a:pt x="1210284" y="1377606"/>
                  </a:lnTo>
                  <a:lnTo>
                    <a:pt x="1203111" y="1421885"/>
                  </a:lnTo>
                  <a:lnTo>
                    <a:pt x="1203111" y="1467055"/>
                  </a:lnTo>
                  <a:lnTo>
                    <a:pt x="1210284" y="1511334"/>
                  </a:lnTo>
                  <a:lnTo>
                    <a:pt x="1224597" y="1552842"/>
                  </a:lnTo>
                  <a:lnTo>
                    <a:pt x="1684280" y="2613890"/>
                  </a:lnTo>
                  <a:lnTo>
                    <a:pt x="1710860" y="2660287"/>
                  </a:lnTo>
                  <a:lnTo>
                    <a:pt x="1744723" y="2695252"/>
                  </a:lnTo>
                  <a:lnTo>
                    <a:pt x="1751671" y="2699159"/>
                  </a:lnTo>
                  <a:lnTo>
                    <a:pt x="1686279" y="2850070"/>
                  </a:lnTo>
                  <a:lnTo>
                    <a:pt x="1727116" y="2870032"/>
                  </a:lnTo>
                  <a:lnTo>
                    <a:pt x="6401873" y="2874936"/>
                  </a:lnTo>
                  <a:lnTo>
                    <a:pt x="6892915" y="4003436"/>
                  </a:lnTo>
                  <a:lnTo>
                    <a:pt x="6911273" y="4048813"/>
                  </a:lnTo>
                  <a:lnTo>
                    <a:pt x="6926296" y="4095921"/>
                  </a:lnTo>
                  <a:lnTo>
                    <a:pt x="6937984" y="4144414"/>
                  </a:lnTo>
                  <a:lnTo>
                    <a:pt x="6946335" y="4193945"/>
                  </a:lnTo>
                  <a:lnTo>
                    <a:pt x="6951347" y="4244170"/>
                  </a:lnTo>
                  <a:lnTo>
                    <a:pt x="6953022" y="4294743"/>
                  </a:lnTo>
                  <a:lnTo>
                    <a:pt x="6951357" y="4345318"/>
                  </a:lnTo>
                  <a:lnTo>
                    <a:pt x="6946352" y="4395549"/>
                  </a:lnTo>
                  <a:lnTo>
                    <a:pt x="6938006" y="4445090"/>
                  </a:lnTo>
                  <a:lnTo>
                    <a:pt x="6926318" y="4493597"/>
                  </a:lnTo>
                  <a:lnTo>
                    <a:pt x="6911288" y="4540722"/>
                  </a:lnTo>
                  <a:lnTo>
                    <a:pt x="6892915" y="4586121"/>
                  </a:lnTo>
                  <a:lnTo>
                    <a:pt x="5652935" y="7435810"/>
                  </a:lnTo>
                  <a:lnTo>
                    <a:pt x="5630728" y="7484400"/>
                  </a:lnTo>
                  <a:lnTo>
                    <a:pt x="5605124" y="7529278"/>
                  </a:lnTo>
                  <a:lnTo>
                    <a:pt x="5576436" y="7570250"/>
                  </a:lnTo>
                  <a:lnTo>
                    <a:pt x="5544976" y="7607124"/>
                  </a:lnTo>
                  <a:lnTo>
                    <a:pt x="5511058" y="7639707"/>
                  </a:lnTo>
                  <a:lnTo>
                    <a:pt x="5474993" y="7667807"/>
                  </a:lnTo>
                  <a:lnTo>
                    <a:pt x="5437096" y="7691230"/>
                  </a:lnTo>
                  <a:lnTo>
                    <a:pt x="5397678" y="7709783"/>
                  </a:lnTo>
                  <a:lnTo>
                    <a:pt x="5357053" y="7723274"/>
                  </a:lnTo>
                  <a:lnTo>
                    <a:pt x="5315533" y="7731510"/>
                  </a:lnTo>
                  <a:lnTo>
                    <a:pt x="5273432" y="7734299"/>
                  </a:lnTo>
                  <a:close/>
                </a:path>
                <a:path w="6953250" h="7734300">
                  <a:moveTo>
                    <a:pt x="3278062" y="839825"/>
                  </a:moveTo>
                  <a:lnTo>
                    <a:pt x="3135855" y="839825"/>
                  </a:lnTo>
                  <a:lnTo>
                    <a:pt x="2890087" y="275050"/>
                  </a:lnTo>
                  <a:lnTo>
                    <a:pt x="2864362" y="228674"/>
                  </a:lnTo>
                  <a:lnTo>
                    <a:pt x="2830632" y="193712"/>
                  </a:lnTo>
                  <a:lnTo>
                    <a:pt x="2791316" y="171647"/>
                  </a:lnTo>
                  <a:lnTo>
                    <a:pt x="2748832" y="163963"/>
                  </a:lnTo>
                  <a:lnTo>
                    <a:pt x="2984068" y="163963"/>
                  </a:lnTo>
                  <a:lnTo>
                    <a:pt x="3278062" y="839825"/>
                  </a:lnTo>
                  <a:close/>
                </a:path>
                <a:path w="6953250" h="7734300">
                  <a:moveTo>
                    <a:pt x="2744644" y="2710972"/>
                  </a:moveTo>
                  <a:lnTo>
                    <a:pt x="1823345" y="2710972"/>
                  </a:lnTo>
                  <a:lnTo>
                    <a:pt x="1812213" y="2710477"/>
                  </a:lnTo>
                  <a:lnTo>
                    <a:pt x="1801250" y="2709007"/>
                  </a:lnTo>
                  <a:lnTo>
                    <a:pt x="1790484" y="2706591"/>
                  </a:lnTo>
                  <a:lnTo>
                    <a:pt x="1779941" y="2703255"/>
                  </a:lnTo>
                  <a:lnTo>
                    <a:pt x="1750053" y="2686678"/>
                  </a:lnTo>
                  <a:lnTo>
                    <a:pt x="2414256" y="1153747"/>
                  </a:lnTo>
                  <a:lnTo>
                    <a:pt x="2437681" y="1105136"/>
                  </a:lnTo>
                  <a:lnTo>
                    <a:pt x="2464070" y="1060245"/>
                  </a:lnTo>
                  <a:lnTo>
                    <a:pt x="2493205" y="1019266"/>
                  </a:lnTo>
                  <a:lnTo>
                    <a:pt x="2524870" y="982391"/>
                  </a:lnTo>
                  <a:lnTo>
                    <a:pt x="2558846" y="949812"/>
                  </a:lnTo>
                  <a:lnTo>
                    <a:pt x="2594917" y="921719"/>
                  </a:lnTo>
                  <a:lnTo>
                    <a:pt x="2632866" y="898304"/>
                  </a:lnTo>
                  <a:lnTo>
                    <a:pt x="2672475" y="879759"/>
                  </a:lnTo>
                  <a:lnTo>
                    <a:pt x="2713529" y="866275"/>
                  </a:lnTo>
                  <a:lnTo>
                    <a:pt x="2755814" y="858045"/>
                  </a:lnTo>
                  <a:lnTo>
                    <a:pt x="2799090" y="855259"/>
                  </a:lnTo>
                  <a:lnTo>
                    <a:pt x="3144422" y="855259"/>
                  </a:lnTo>
                  <a:lnTo>
                    <a:pt x="3347547" y="1321998"/>
                  </a:lnTo>
                  <a:lnTo>
                    <a:pt x="3361894" y="1363601"/>
                  </a:lnTo>
                  <a:lnTo>
                    <a:pt x="3369067" y="1407880"/>
                  </a:lnTo>
                  <a:lnTo>
                    <a:pt x="3369067" y="1453050"/>
                  </a:lnTo>
                  <a:lnTo>
                    <a:pt x="3361894" y="1497329"/>
                  </a:lnTo>
                  <a:lnTo>
                    <a:pt x="3347547" y="1538933"/>
                  </a:lnTo>
                  <a:lnTo>
                    <a:pt x="2885899" y="2599885"/>
                  </a:lnTo>
                  <a:lnTo>
                    <a:pt x="2860173" y="2646262"/>
                  </a:lnTo>
                  <a:lnTo>
                    <a:pt x="2826444" y="2681224"/>
                  </a:lnTo>
                  <a:lnTo>
                    <a:pt x="2787186" y="2703255"/>
                  </a:lnTo>
                  <a:lnTo>
                    <a:pt x="2744644" y="2710972"/>
                  </a:lnTo>
                  <a:close/>
                </a:path>
                <a:path w="6953250" h="7734300">
                  <a:moveTo>
                    <a:pt x="6401873" y="2874936"/>
                  </a:moveTo>
                  <a:lnTo>
                    <a:pt x="2803374" y="2874936"/>
                  </a:lnTo>
                  <a:lnTo>
                    <a:pt x="2851320" y="2866265"/>
                  </a:lnTo>
                  <a:lnTo>
                    <a:pt x="2895679" y="2841364"/>
                  </a:lnTo>
                  <a:lnTo>
                    <a:pt x="2933721" y="2801905"/>
                  </a:lnTo>
                  <a:lnTo>
                    <a:pt x="2962714" y="2749558"/>
                  </a:lnTo>
                  <a:lnTo>
                    <a:pt x="3483472" y="1552842"/>
                  </a:lnTo>
                  <a:lnTo>
                    <a:pt x="3499646" y="1505904"/>
                  </a:lnTo>
                  <a:lnTo>
                    <a:pt x="3507733" y="1455947"/>
                  </a:lnTo>
                  <a:lnTo>
                    <a:pt x="3507733" y="1404984"/>
                  </a:lnTo>
                  <a:lnTo>
                    <a:pt x="3499646" y="1355027"/>
                  </a:lnTo>
                  <a:lnTo>
                    <a:pt x="3483472" y="1308088"/>
                  </a:lnTo>
                  <a:lnTo>
                    <a:pt x="3286439" y="855259"/>
                  </a:lnTo>
                  <a:lnTo>
                    <a:pt x="5273430" y="855259"/>
                  </a:lnTo>
                  <a:lnTo>
                    <a:pt x="5315512" y="858045"/>
                  </a:lnTo>
                  <a:lnTo>
                    <a:pt x="5357018" y="866275"/>
                  </a:lnTo>
                  <a:lnTo>
                    <a:pt x="5397637" y="879759"/>
                  </a:lnTo>
                  <a:lnTo>
                    <a:pt x="5437054" y="898304"/>
                  </a:lnTo>
                  <a:lnTo>
                    <a:pt x="5474955" y="921719"/>
                  </a:lnTo>
                  <a:lnTo>
                    <a:pt x="5511026" y="949812"/>
                  </a:lnTo>
                  <a:lnTo>
                    <a:pt x="5544952" y="982391"/>
                  </a:lnTo>
                  <a:lnTo>
                    <a:pt x="5576421" y="1019266"/>
                  </a:lnTo>
                  <a:lnTo>
                    <a:pt x="5605117" y="1060245"/>
                  </a:lnTo>
                  <a:lnTo>
                    <a:pt x="5630726" y="1105136"/>
                  </a:lnTo>
                  <a:lnTo>
                    <a:pt x="5652935" y="1153747"/>
                  </a:lnTo>
                  <a:lnTo>
                    <a:pt x="6401873" y="2874936"/>
                  </a:lnTo>
                  <a:close/>
                </a:path>
                <a:path w="6953250" h="7734300">
                  <a:moveTo>
                    <a:pt x="1009892" y="6361235"/>
                  </a:moveTo>
                  <a:lnTo>
                    <a:pt x="408321" y="6361235"/>
                  </a:lnTo>
                  <a:lnTo>
                    <a:pt x="379957" y="6356201"/>
                  </a:lnTo>
                  <a:lnTo>
                    <a:pt x="332094" y="6318911"/>
                  </a:lnTo>
                  <a:lnTo>
                    <a:pt x="14634" y="5595912"/>
                  </a:lnTo>
                  <a:lnTo>
                    <a:pt x="0" y="5525077"/>
                  </a:lnTo>
                  <a:lnTo>
                    <a:pt x="3658" y="5488516"/>
                  </a:lnTo>
                  <a:lnTo>
                    <a:pt x="314753" y="4761518"/>
                  </a:lnTo>
                  <a:lnTo>
                    <a:pt x="354284" y="4708356"/>
                  </a:lnTo>
                  <a:lnTo>
                    <a:pt x="408321" y="4688920"/>
                  </a:lnTo>
                  <a:lnTo>
                    <a:pt x="1009892" y="4688920"/>
                  </a:lnTo>
                  <a:lnTo>
                    <a:pt x="1063326" y="4708356"/>
                  </a:lnTo>
                  <a:lnTo>
                    <a:pt x="1102126" y="4761518"/>
                  </a:lnTo>
                  <a:lnTo>
                    <a:pt x="1403578" y="5454242"/>
                  </a:lnTo>
                  <a:lnTo>
                    <a:pt x="1418213" y="5525077"/>
                  </a:lnTo>
                  <a:lnTo>
                    <a:pt x="1414554" y="5561638"/>
                  </a:lnTo>
                  <a:lnTo>
                    <a:pt x="1102126" y="6288637"/>
                  </a:lnTo>
                  <a:lnTo>
                    <a:pt x="1063326" y="6341763"/>
                  </a:lnTo>
                  <a:lnTo>
                    <a:pt x="1009892" y="6361235"/>
                  </a:lnTo>
                  <a:close/>
                </a:path>
              </a:pathLst>
            </a:custGeom>
            <a:solidFill>
              <a:srgbClr val="808080">
                <a:alpha val="15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en-IN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5" name="object 4"/>
            <p:cNvPicPr/>
            <p:nvPr/>
          </p:nvPicPr>
          <p:blipFill>
            <a:blip r:embed="rId2"/>
            <a:stretch/>
          </p:blipFill>
          <p:spPr>
            <a:xfrm>
              <a:off x="8113320" y="2568240"/>
              <a:ext cx="3202560" cy="34243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469520" y="144360"/>
            <a:ext cx="8085960" cy="624960"/>
          </a:xfrm>
          <a:prstGeom prst="rect">
            <a:avLst/>
          </a:prstGeom>
          <a:noFill/>
          <a:ln w="0">
            <a:noFill/>
          </a:ln>
        </p:spPr>
        <p:txBody>
          <a:bodyPr lIns="0" tIns="8640" rIns="0" bIns="0" anchor="t">
            <a:spAutoFit/>
          </a:bodyPr>
          <a:lstStyle/>
          <a:p>
            <a:pPr marL="8640" indent="0" algn="l">
              <a:lnSpc>
                <a:spcPct val="100000"/>
              </a:lnSpc>
              <a:spcBef>
                <a:spcPts val="68"/>
              </a:spcBef>
              <a:buNone/>
              <a:tabLst>
                <a:tab pos="0" algn="l"/>
              </a:tabLst>
            </a:pPr>
            <a:r>
              <a:rPr lang="en-IN" sz="4000" b="1" u="none" strike="noStrike" spc="-82">
                <a:solidFill>
                  <a:srgbClr val="1F497D"/>
                </a:solidFill>
                <a:effectLst/>
                <a:uFillTx/>
                <a:latin typeface="Times New Roman"/>
              </a:rPr>
              <a:t>SMART</a:t>
            </a:r>
            <a:r>
              <a:rPr lang="en-IN" sz="4000" b="1" u="none" strike="noStrike" spc="-54">
                <a:solidFill>
                  <a:srgbClr val="1F497D"/>
                </a:solidFill>
                <a:effectLst/>
                <a:uFillTx/>
                <a:latin typeface="Times New Roman"/>
              </a:rPr>
              <a:t> </a:t>
            </a:r>
            <a:r>
              <a:rPr lang="en-IN" sz="4000" b="1" u="none" strike="noStrike" spc="94">
                <a:solidFill>
                  <a:srgbClr val="1F497D"/>
                </a:solidFill>
                <a:effectLst/>
                <a:uFillTx/>
                <a:latin typeface="Times New Roman"/>
              </a:rPr>
              <a:t>INDIA</a:t>
            </a:r>
            <a:r>
              <a:rPr lang="en-IN" sz="4000" b="1" u="none" strike="noStrike" spc="-54">
                <a:solidFill>
                  <a:srgbClr val="1F497D"/>
                </a:solidFill>
                <a:effectLst/>
                <a:uFillTx/>
                <a:latin typeface="Times New Roman"/>
              </a:rPr>
              <a:t> </a:t>
            </a:r>
            <a:r>
              <a:rPr lang="en-IN" sz="4000" b="1" u="none" strike="noStrike">
                <a:solidFill>
                  <a:srgbClr val="1F497D"/>
                </a:solidFill>
                <a:effectLst/>
                <a:uFillTx/>
                <a:latin typeface="Times New Roman"/>
              </a:rPr>
              <a:t>HACKATHON</a:t>
            </a:r>
            <a:r>
              <a:rPr lang="en-IN" sz="4000" b="1" u="none" strike="noStrike" spc="-51">
                <a:solidFill>
                  <a:srgbClr val="1F497D"/>
                </a:solidFill>
                <a:effectLst/>
                <a:uFillTx/>
                <a:latin typeface="Times New Roman"/>
              </a:rPr>
              <a:t> </a:t>
            </a:r>
            <a:r>
              <a:rPr lang="en-IN" sz="4000" b="1" u="none" strike="noStrike" spc="-60">
                <a:solidFill>
                  <a:srgbClr val="1F497D"/>
                </a:solidFill>
                <a:effectLst/>
                <a:uFillTx/>
                <a:latin typeface="Times New Roman"/>
              </a:rPr>
              <a:t>202</a:t>
            </a:r>
            <a:r>
              <a:rPr lang="en-US" sz="4000" b="1" u="none" strike="noStrike" spc="-60">
                <a:solidFill>
                  <a:srgbClr val="1F497D"/>
                </a:solidFill>
                <a:effectLst/>
                <a:uFillTx/>
                <a:latin typeface="Times New Roman"/>
              </a:rPr>
              <a:t>6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7" name="object 7"/>
          <p:cNvSpPr/>
          <p:nvPr/>
        </p:nvSpPr>
        <p:spPr>
          <a:xfrm>
            <a:off x="747360" y="1041120"/>
            <a:ext cx="8085960" cy="585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640" rIns="0" bIns="0" anchor="t">
            <a:spAutoFit/>
          </a:bodyPr>
          <a:lstStyle/>
          <a:p>
            <a:pPr marL="3485880" defTabSz="609480">
              <a:lnSpc>
                <a:spcPct val="100000"/>
              </a:lnSpc>
              <a:spcBef>
                <a:spcPts val="68"/>
              </a:spcBef>
            </a:pPr>
            <a:r>
              <a:rPr lang="en-IN" sz="32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TITLE</a:t>
            </a:r>
            <a:r>
              <a:rPr lang="en-IN" sz="3200" b="1" u="none" strike="noStrike" spc="-14">
                <a:solidFill>
                  <a:srgbClr val="000000"/>
                </a:solidFill>
                <a:effectLst/>
                <a:uFillTx/>
                <a:latin typeface="Times New Roman"/>
              </a:rPr>
              <a:t> PAGE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09480">
              <a:lnSpc>
                <a:spcPct val="100000"/>
              </a:lnSpc>
              <a:spcBef>
                <a:spcPts val="3169"/>
              </a:spcBef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280" defTabSz="609480">
              <a:lnSpc>
                <a:spcPct val="100000"/>
              </a:lnSpc>
              <a:spcBef>
                <a:spcPts val="3"/>
              </a:spcBef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Problem Statement ID –</a:t>
            </a:r>
            <a:r>
              <a:rPr lang="en-IN" sz="2400" b="1" u="none" strike="noStrike" spc="414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IN" sz="3300" b="1" u="none" strike="noStrike" spc="-11" baseline="-2000">
                <a:solidFill>
                  <a:srgbClr val="000000"/>
                </a:solidFill>
                <a:effectLst/>
                <a:uFillTx/>
                <a:latin typeface="Arial"/>
              </a:rPr>
              <a:t>SIH</a:t>
            </a:r>
            <a:r>
              <a:rPr lang="en-US" sz="3300" b="1" u="none" strike="noStrike" spc="-11" baseline="-2000">
                <a:solidFill>
                  <a:srgbClr val="000000"/>
                </a:solidFill>
                <a:effectLst/>
                <a:uFillTx/>
                <a:latin typeface="Arial"/>
              </a:rPr>
              <a:t>26102</a:t>
            </a:r>
            <a:endParaRPr lang="en-IN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280" defTabSz="609480">
              <a:lnSpc>
                <a:spcPct val="100000"/>
              </a:lnSpc>
              <a:spcBef>
                <a:spcPts val="2738"/>
              </a:spcBef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Problem Statement Title-</a:t>
            </a: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AI-Powered MPLADS Anomaly and Fraud Detection System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280" defTabSz="609480">
              <a:lnSpc>
                <a:spcPct val="100000"/>
              </a:lnSpc>
              <a:spcBef>
                <a:spcPts val="2738"/>
              </a:spcBef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Theme-</a:t>
            </a:r>
            <a:r>
              <a:rPr lang="en-IN" sz="2400" b="1" u="none" strike="noStrike" spc="332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Smart Automation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09480">
              <a:lnSpc>
                <a:spcPct val="100000"/>
              </a:lnSpc>
              <a:spcBef>
                <a:spcPts val="232"/>
              </a:spcBef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" defTabSz="609480">
              <a:lnSpc>
                <a:spcPct val="100000"/>
              </a:lnSpc>
            </a:pPr>
            <a:r>
              <a:rPr lang="en-IN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PS</a:t>
            </a:r>
            <a:r>
              <a:rPr lang="en-IN" sz="2200" b="1" u="none" strike="noStrike" spc="-54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IN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Category-</a:t>
            </a:r>
            <a:r>
              <a:rPr lang="en-IN" sz="2200" b="1" u="none" strike="noStrike" spc="-51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IN" sz="2200" b="1" u="none" strike="noStrike" spc="-6">
                <a:solidFill>
                  <a:srgbClr val="000000"/>
                </a:solidFill>
                <a:effectLst/>
                <a:uFillTx/>
                <a:latin typeface="Arial"/>
              </a:rPr>
              <a:t>Software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09480">
              <a:lnSpc>
                <a:spcPct val="100000"/>
              </a:lnSpc>
              <a:spcBef>
                <a:spcPts val="181"/>
              </a:spcBef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280" defTabSz="609480">
              <a:lnSpc>
                <a:spcPct val="100000"/>
              </a:lnSpc>
              <a:spcBef>
                <a:spcPts val="3"/>
              </a:spcBef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Team </a:t>
            </a:r>
            <a:r>
              <a:rPr lang="en-IN" sz="2400" b="1" u="none" strike="noStrike" spc="-17">
                <a:solidFill>
                  <a:srgbClr val="000000"/>
                </a:solidFill>
                <a:effectLst/>
                <a:uFillTx/>
                <a:latin typeface="Arial"/>
              </a:rPr>
              <a:t>ID- 128747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09480">
              <a:lnSpc>
                <a:spcPct val="100000"/>
              </a:lnSpc>
              <a:spcBef>
                <a:spcPts val="108"/>
              </a:spcBef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4280" defTabSz="609480">
              <a:lnSpc>
                <a:spcPct val="100000"/>
              </a:lnSpc>
              <a:spcBef>
                <a:spcPts val="3"/>
              </a:spcBef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Team</a:t>
            </a:r>
            <a:r>
              <a:rPr lang="en-IN" sz="2400" b="1" u="none" strike="noStrike" spc="-11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Name</a:t>
            </a:r>
            <a:r>
              <a:rPr lang="en-IN" sz="2400" b="1" u="none" strike="noStrike" spc="-6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(Registered</a:t>
            </a:r>
            <a:r>
              <a:rPr lang="en-IN" sz="2400" b="1" u="none" strike="noStrike" spc="-6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</a:t>
            </a:r>
            <a:r>
              <a:rPr lang="en-IN" sz="2400" b="1" u="none" strike="noStrike" spc="-6">
                <a:solidFill>
                  <a:srgbClr val="000000"/>
                </a:solidFill>
                <a:effectLst/>
                <a:uFillTx/>
                <a:latin typeface="Arial"/>
              </a:rPr>
              <a:t> portal)</a:t>
            </a:r>
            <a:r>
              <a:rPr lang="en-US" sz="2400" b="1" u="none" strike="noStrike" spc="-6">
                <a:solidFill>
                  <a:srgbClr val="000000"/>
                </a:solidFill>
                <a:effectLst/>
                <a:uFillTx/>
                <a:latin typeface="Arial"/>
              </a:rPr>
              <a:t>-Data Detectives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object 8"/>
          <p:cNvPicPr/>
          <p:nvPr/>
        </p:nvPicPr>
        <p:blipFill>
          <a:blip r:embed="rId3"/>
          <a:stretch/>
        </p:blipFill>
        <p:spPr>
          <a:xfrm>
            <a:off x="601920" y="2608560"/>
            <a:ext cx="87840" cy="8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object 9"/>
          <p:cNvPicPr/>
          <p:nvPr/>
        </p:nvPicPr>
        <p:blipFill>
          <a:blip r:embed="rId3"/>
          <a:stretch/>
        </p:blipFill>
        <p:spPr>
          <a:xfrm>
            <a:off x="601920" y="3339000"/>
            <a:ext cx="87840" cy="8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object 10"/>
          <p:cNvPicPr/>
          <p:nvPr/>
        </p:nvPicPr>
        <p:blipFill>
          <a:blip r:embed="rId3"/>
          <a:stretch/>
        </p:blipFill>
        <p:spPr>
          <a:xfrm>
            <a:off x="621000" y="4370760"/>
            <a:ext cx="87840" cy="8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object 11"/>
          <p:cNvPicPr/>
          <p:nvPr/>
        </p:nvPicPr>
        <p:blipFill>
          <a:blip r:embed="rId4"/>
          <a:stretch/>
        </p:blipFill>
        <p:spPr>
          <a:xfrm>
            <a:off x="601920" y="5064840"/>
            <a:ext cx="81360" cy="81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object 12"/>
          <p:cNvPicPr/>
          <p:nvPr/>
        </p:nvPicPr>
        <p:blipFill>
          <a:blip r:embed="rId3"/>
          <a:stretch/>
        </p:blipFill>
        <p:spPr>
          <a:xfrm>
            <a:off x="610560" y="5835240"/>
            <a:ext cx="87840" cy="8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object 13"/>
          <p:cNvPicPr/>
          <p:nvPr/>
        </p:nvPicPr>
        <p:blipFill>
          <a:blip r:embed="rId3"/>
          <a:stretch/>
        </p:blipFill>
        <p:spPr>
          <a:xfrm>
            <a:off x="591840" y="6472440"/>
            <a:ext cx="87840" cy="8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Picture 14"/>
          <p:cNvPicPr/>
          <p:nvPr/>
        </p:nvPicPr>
        <p:blipFill>
          <a:blip r:embed="rId5"/>
          <a:stretch/>
        </p:blipFill>
        <p:spPr>
          <a:xfrm>
            <a:off x="9804240" y="95040"/>
            <a:ext cx="1948320" cy="919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2"/>
          <p:cNvSpPr/>
          <p:nvPr/>
        </p:nvSpPr>
        <p:spPr>
          <a:xfrm>
            <a:off x="8208720" y="2298960"/>
            <a:ext cx="3310920" cy="63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332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IN" sz="2000" b="1" u="sng" strike="noStrike" spc="-11">
                <a:solidFill>
                  <a:srgbClr val="1F487C"/>
                </a:solidFill>
                <a:effectLst/>
                <a:uFill>
                  <a:solidFill>
                    <a:srgbClr val="1F487C"/>
                  </a:solidFill>
                </a:uFill>
                <a:latin typeface="Calibri"/>
              </a:rPr>
              <a:t>Innovation/Uniqueness: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05"/>
              </a:spcBef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object 3"/>
          <p:cNvSpPr/>
          <p:nvPr/>
        </p:nvSpPr>
        <p:spPr>
          <a:xfrm>
            <a:off x="2438280" y="216360"/>
            <a:ext cx="7976520" cy="28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AI-Powered MPLADS Anomaly and Fraud Detection System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7" name="object 4"/>
          <p:cNvGrpSpPr/>
          <p:nvPr/>
        </p:nvGrpSpPr>
        <p:grpSpPr>
          <a:xfrm>
            <a:off x="720" y="120600"/>
            <a:ext cx="12191040" cy="2219400"/>
            <a:chOff x="720" y="120600"/>
            <a:chExt cx="12191040" cy="2219400"/>
          </a:xfrm>
        </p:grpSpPr>
        <p:pic>
          <p:nvPicPr>
            <p:cNvPr id="88" name="object 5"/>
            <p:cNvPicPr/>
            <p:nvPr/>
          </p:nvPicPr>
          <p:blipFill>
            <a:blip r:embed="rId2"/>
            <a:stretch/>
          </p:blipFill>
          <p:spPr>
            <a:xfrm>
              <a:off x="720" y="774360"/>
              <a:ext cx="12191040" cy="1850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9" name="object 6"/>
            <p:cNvSpPr/>
            <p:nvPr/>
          </p:nvSpPr>
          <p:spPr>
            <a:xfrm>
              <a:off x="720" y="810360"/>
              <a:ext cx="12191040" cy="77760"/>
            </a:xfrm>
            <a:custGeom>
              <a:avLst/>
              <a:gdLst>
                <a:gd name="textAreaLeft" fmla="*/ 0 w 12191040"/>
                <a:gd name="textAreaRight" fmla="*/ 12192120 w 12191040"/>
                <a:gd name="textAreaTop" fmla="*/ 0 h 77760"/>
                <a:gd name="textAreaBottom" fmla="*/ 78840 h 77760"/>
              </a:gdLst>
              <a:ahLst/>
              <a:cxnLst/>
              <a:rect l="textAreaLeft" t="textAreaTop" r="textAreaRight" b="textAreaBottom"/>
              <a:pathLst>
                <a:path w="12192000" h="78740">
                  <a:moveTo>
                    <a:pt x="0" y="0"/>
                  </a:moveTo>
                  <a:lnTo>
                    <a:pt x="12192000" y="78612"/>
                  </a:lnTo>
                </a:path>
              </a:pathLst>
            </a:custGeom>
            <a:noFill/>
            <a:ln w="25400">
              <a:solidFill>
                <a:srgbClr val="4F81BC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object 7"/>
            <p:cNvSpPr/>
            <p:nvPr/>
          </p:nvSpPr>
          <p:spPr>
            <a:xfrm>
              <a:off x="720" y="2339640"/>
              <a:ext cx="12174480" cy="360"/>
            </a:xfrm>
            <a:custGeom>
              <a:avLst/>
              <a:gdLst>
                <a:gd name="textAreaLeft" fmla="*/ 0 w 12174480"/>
                <a:gd name="textAreaRight" fmla="*/ 12175560 w 12174480"/>
                <a:gd name="textAreaTop" fmla="*/ 0 h 360"/>
                <a:gd name="textAreaBottom" fmla="*/ 2880 h 360"/>
              </a:gdLst>
              <a:ahLst/>
              <a:cxnLst/>
              <a:rect l="textAreaLeft" t="textAreaTop" r="textAreaRight" b="textAreaBottom"/>
              <a:pathLst>
                <a:path w="12175490">
                  <a:moveTo>
                    <a:pt x="0" y="0"/>
                  </a:moveTo>
                  <a:lnTo>
                    <a:pt x="12175363" y="0"/>
                  </a:lnTo>
                </a:path>
              </a:pathLst>
            </a:custGeom>
            <a:noFill/>
            <a:ln w="9525">
              <a:solidFill>
                <a:srgbClr val="497DB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object 9"/>
            <p:cNvSpPr/>
            <p:nvPr/>
          </p:nvSpPr>
          <p:spPr>
            <a:xfrm>
              <a:off x="213480" y="120600"/>
              <a:ext cx="1365120" cy="624240"/>
            </a:xfrm>
            <a:custGeom>
              <a:avLst/>
              <a:gdLst>
                <a:gd name="textAreaLeft" fmla="*/ 0 w 1365120"/>
                <a:gd name="textAreaRight" fmla="*/ 1366200 w 1365120"/>
                <a:gd name="textAreaTop" fmla="*/ 0 h 624240"/>
                <a:gd name="textAreaBottom" fmla="*/ 625320 h 624240"/>
              </a:gdLst>
              <a:ahLst/>
              <a:cxnLst/>
              <a:rect l="textAreaLeft" t="textAreaTop" r="textAreaRight" b="textAreaBottom"/>
              <a:pathLst>
                <a:path w="1209675" h="585470">
                  <a:moveTo>
                    <a:pt x="0" y="292481"/>
                  </a:moveTo>
                  <a:lnTo>
                    <a:pt x="12285" y="233532"/>
                  </a:lnTo>
                  <a:lnTo>
                    <a:pt x="47519" y="178629"/>
                  </a:lnTo>
                  <a:lnTo>
                    <a:pt x="103270" y="128947"/>
                  </a:lnTo>
                  <a:lnTo>
                    <a:pt x="138080" y="106431"/>
                  </a:lnTo>
                  <a:lnTo>
                    <a:pt x="177107" y="85661"/>
                  </a:lnTo>
                  <a:lnTo>
                    <a:pt x="220048" y="66784"/>
                  </a:lnTo>
                  <a:lnTo>
                    <a:pt x="266599" y="49948"/>
                  </a:lnTo>
                  <a:lnTo>
                    <a:pt x="316455" y="35298"/>
                  </a:lnTo>
                  <a:lnTo>
                    <a:pt x="369314" y="22983"/>
                  </a:lnTo>
                  <a:lnTo>
                    <a:pt x="424869" y="13148"/>
                  </a:lnTo>
                  <a:lnTo>
                    <a:pt x="482819" y="5941"/>
                  </a:lnTo>
                  <a:lnTo>
                    <a:pt x="542859" y="1509"/>
                  </a:lnTo>
                  <a:lnTo>
                    <a:pt x="604685" y="0"/>
                  </a:lnTo>
                  <a:lnTo>
                    <a:pt x="666510" y="1509"/>
                  </a:lnTo>
                  <a:lnTo>
                    <a:pt x="726547" y="5941"/>
                  </a:lnTo>
                  <a:lnTo>
                    <a:pt x="784494" y="13148"/>
                  </a:lnTo>
                  <a:lnTo>
                    <a:pt x="840046" y="22983"/>
                  </a:lnTo>
                  <a:lnTo>
                    <a:pt x="892899" y="35298"/>
                  </a:lnTo>
                  <a:lnTo>
                    <a:pt x="942750" y="49948"/>
                  </a:lnTo>
                  <a:lnTo>
                    <a:pt x="989295" y="66784"/>
                  </a:lnTo>
                  <a:lnTo>
                    <a:pt x="1032230" y="85661"/>
                  </a:lnTo>
                  <a:lnTo>
                    <a:pt x="1071252" y="106431"/>
                  </a:lnTo>
                  <a:lnTo>
                    <a:pt x="1106056" y="128947"/>
                  </a:lnTo>
                  <a:lnTo>
                    <a:pt x="1136339" y="153062"/>
                  </a:lnTo>
                  <a:lnTo>
                    <a:pt x="1182127" y="205501"/>
                  </a:lnTo>
                  <a:lnTo>
                    <a:pt x="1206185" y="262574"/>
                  </a:lnTo>
                  <a:lnTo>
                    <a:pt x="1209306" y="292481"/>
                  </a:lnTo>
                  <a:lnTo>
                    <a:pt x="1206185" y="322388"/>
                  </a:lnTo>
                  <a:lnTo>
                    <a:pt x="1182127" y="379471"/>
                  </a:lnTo>
                  <a:lnTo>
                    <a:pt x="1136339" y="431929"/>
                  </a:lnTo>
                  <a:lnTo>
                    <a:pt x="1106056" y="456055"/>
                  </a:lnTo>
                  <a:lnTo>
                    <a:pt x="1071252" y="478582"/>
                  </a:lnTo>
                  <a:lnTo>
                    <a:pt x="1032230" y="499364"/>
                  </a:lnTo>
                  <a:lnTo>
                    <a:pt x="989295" y="518252"/>
                  </a:lnTo>
                  <a:lnTo>
                    <a:pt x="942750" y="535100"/>
                  </a:lnTo>
                  <a:lnTo>
                    <a:pt x="892899" y="549760"/>
                  </a:lnTo>
                  <a:lnTo>
                    <a:pt x="840046" y="562086"/>
                  </a:lnTo>
                  <a:lnTo>
                    <a:pt x="784494" y="571928"/>
                  </a:lnTo>
                  <a:lnTo>
                    <a:pt x="726547" y="579141"/>
                  </a:lnTo>
                  <a:lnTo>
                    <a:pt x="666510" y="583577"/>
                  </a:lnTo>
                  <a:lnTo>
                    <a:pt x="604685" y="585088"/>
                  </a:lnTo>
                  <a:lnTo>
                    <a:pt x="542859" y="583577"/>
                  </a:lnTo>
                  <a:lnTo>
                    <a:pt x="482819" y="579141"/>
                  </a:lnTo>
                  <a:lnTo>
                    <a:pt x="424869" y="571928"/>
                  </a:lnTo>
                  <a:lnTo>
                    <a:pt x="369314" y="562086"/>
                  </a:lnTo>
                  <a:lnTo>
                    <a:pt x="316455" y="549760"/>
                  </a:lnTo>
                  <a:lnTo>
                    <a:pt x="266599" y="535100"/>
                  </a:lnTo>
                  <a:lnTo>
                    <a:pt x="220048" y="518252"/>
                  </a:lnTo>
                  <a:lnTo>
                    <a:pt x="177107" y="499363"/>
                  </a:lnTo>
                  <a:lnTo>
                    <a:pt x="138080" y="478582"/>
                  </a:lnTo>
                  <a:lnTo>
                    <a:pt x="103270" y="456055"/>
                  </a:lnTo>
                  <a:lnTo>
                    <a:pt x="72982" y="431929"/>
                  </a:lnTo>
                  <a:lnTo>
                    <a:pt x="27185" y="379471"/>
                  </a:lnTo>
                  <a:lnTo>
                    <a:pt x="3121" y="322388"/>
                  </a:lnTo>
                  <a:lnTo>
                    <a:pt x="0" y="292481"/>
                  </a:lnTo>
                  <a:close/>
                </a:path>
              </a:pathLst>
            </a:custGeom>
            <a:noFill/>
            <a:ln w="9525">
              <a:solidFill>
                <a:srgbClr val="497DB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2" name="object 10"/>
          <p:cNvSpPr/>
          <p:nvPr/>
        </p:nvSpPr>
        <p:spPr>
          <a:xfrm>
            <a:off x="457200" y="58320"/>
            <a:ext cx="1018080" cy="2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object 11"/>
          <p:cNvSpPr/>
          <p:nvPr/>
        </p:nvSpPr>
        <p:spPr>
          <a:xfrm>
            <a:off x="297360" y="902160"/>
            <a:ext cx="4750128" cy="109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5148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405"/>
              </a:spcBef>
            </a:pPr>
            <a:r>
              <a:rPr lang="en-IN" sz="2000" b="1" u="sng" strike="noStrike" spc="-11" dirty="0">
                <a:solidFill>
                  <a:srgbClr val="1F487C"/>
                </a:solidFill>
                <a:effectLst/>
                <a:uFill>
                  <a:solidFill>
                    <a:srgbClr val="1F487C"/>
                  </a:solidFill>
                </a:uFill>
                <a:latin typeface="Calibri"/>
              </a:rPr>
              <a:t>Problem:</a:t>
            </a:r>
            <a:r>
              <a:rPr lang="en-IN" sz="2000" b="1" u="sng" strike="noStrike" spc="499" dirty="0">
                <a:solidFill>
                  <a:srgbClr val="1F487C"/>
                </a:solidFill>
                <a:effectLst/>
                <a:uFill>
                  <a:solidFill>
                    <a:srgbClr val="1F487C"/>
                  </a:solidFill>
                </a:uFill>
                <a:latin typeface="Calibri"/>
              </a:rPr>
              <a:t> 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600" b="1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MPLADS projects</a:t>
            </a: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 are </a:t>
            </a:r>
            <a:r>
              <a:rPr lang="en-IN" sz="1600" b="1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vulnerable to delays and financial anomalies</a:t>
            </a: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, putting </a:t>
            </a:r>
            <a:r>
              <a:rPr lang="en-IN" sz="1600" b="1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public funds and project outcomes at risk.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object 12"/>
          <p:cNvSpPr/>
          <p:nvPr/>
        </p:nvSpPr>
        <p:spPr>
          <a:xfrm>
            <a:off x="5582160" y="824760"/>
            <a:ext cx="6311520" cy="153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3320" rIns="0" bIns="0" anchor="t">
            <a:spAutoFit/>
          </a:bodyPr>
          <a:lstStyle/>
          <a:p>
            <a:pPr marL="46440">
              <a:lnSpc>
                <a:spcPct val="100000"/>
              </a:lnSpc>
              <a:spcBef>
                <a:spcPts val="105"/>
              </a:spcBef>
            </a:pPr>
            <a:r>
              <a:rPr lang="en-IN" sz="2000" b="1" u="sng" strike="noStrike">
                <a:solidFill>
                  <a:srgbClr val="1F487C"/>
                </a:solidFill>
                <a:effectLst/>
                <a:uFill>
                  <a:solidFill>
                    <a:srgbClr val="1F487C"/>
                  </a:solidFill>
                </a:uFill>
                <a:latin typeface="Calibri"/>
              </a:rPr>
              <a:t>Our</a:t>
            </a:r>
            <a:r>
              <a:rPr lang="en-IN" sz="2000" b="1" u="sng" strike="noStrike" spc="-26">
                <a:solidFill>
                  <a:srgbClr val="1F487C"/>
                </a:solidFill>
                <a:effectLst/>
                <a:uFill>
                  <a:solidFill>
                    <a:srgbClr val="1F487C"/>
                  </a:solidFill>
                </a:uFill>
                <a:latin typeface="Calibri"/>
              </a:rPr>
              <a:t> </a:t>
            </a:r>
            <a:r>
              <a:rPr lang="en-IN" sz="2000" b="1" u="sng" strike="noStrike">
                <a:solidFill>
                  <a:srgbClr val="1F487C"/>
                </a:solidFill>
                <a:effectLst/>
                <a:uFill>
                  <a:solidFill>
                    <a:srgbClr val="1F487C"/>
                  </a:solidFill>
                </a:uFill>
                <a:latin typeface="Calibri"/>
              </a:rPr>
              <a:t>Idea</a:t>
            </a:r>
            <a:r>
              <a:rPr lang="en-IN" sz="2000" b="1" u="sng" strike="noStrike" spc="-20">
                <a:solidFill>
                  <a:srgbClr val="1F487C"/>
                </a:solidFill>
                <a:effectLst/>
                <a:uFill>
                  <a:solidFill>
                    <a:srgbClr val="1F487C"/>
                  </a:solidFill>
                </a:uFill>
                <a:latin typeface="Calibri"/>
              </a:rPr>
              <a:t> </a:t>
            </a:r>
            <a:r>
              <a:rPr lang="en-IN" sz="2000" b="1" u="sng" strike="noStrike" spc="-51">
                <a:solidFill>
                  <a:srgbClr val="1F487C"/>
                </a:solidFill>
                <a:effectLst/>
                <a:uFill>
                  <a:solidFill>
                    <a:srgbClr val="1F487C"/>
                  </a:solidFill>
                </a:uFill>
                <a:latin typeface="Calibri"/>
              </a:rPr>
              <a:t>: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MPLADS Surveillance System</a:t>
            </a:r>
            <a:r>
              <a:rPr lang="en-IN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is an </a:t>
            </a: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AI-powered surveillance system</a:t>
            </a:r>
            <a:r>
              <a:rPr lang="en-IN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with a </a:t>
            </a: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data-driven approach</a:t>
            </a:r>
            <a:r>
              <a:rPr lang="en-IN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ensuring proactive monitoring of MPLADS projects. It uses </a:t>
            </a: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anomaly detection algorithms</a:t>
            </a:r>
            <a:r>
              <a:rPr lang="en-IN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to identify irregularities for</a:t>
            </a: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efficient utilization of public funds.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object 13"/>
          <p:cNvSpPr/>
          <p:nvPr/>
        </p:nvSpPr>
        <p:spPr>
          <a:xfrm>
            <a:off x="97560" y="2309040"/>
            <a:ext cx="3998160" cy="384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1640" rIns="0" bIns="0" anchor="t">
            <a:spAutoFit/>
          </a:bodyPr>
          <a:lstStyle/>
          <a:p>
            <a:pPr marL="122040">
              <a:lnSpc>
                <a:spcPct val="100000"/>
              </a:lnSpc>
              <a:spcBef>
                <a:spcPts val="564"/>
              </a:spcBef>
            </a:pPr>
            <a:r>
              <a:rPr lang="en-IN" sz="2000" b="1" u="sng" strike="noStrike" dirty="0">
                <a:solidFill>
                  <a:srgbClr val="1F487C"/>
                </a:solidFill>
                <a:effectLst/>
                <a:uFill>
                  <a:solidFill>
                    <a:srgbClr val="1F487C"/>
                  </a:solidFill>
                </a:uFill>
                <a:latin typeface="Calibri"/>
              </a:rPr>
              <a:t>Proposed</a:t>
            </a:r>
            <a:r>
              <a:rPr lang="en-IN" sz="2000" b="1" u="sng" strike="noStrike" spc="-40" dirty="0">
                <a:solidFill>
                  <a:srgbClr val="1F487C"/>
                </a:solidFill>
                <a:effectLst/>
                <a:uFill>
                  <a:solidFill>
                    <a:srgbClr val="1F487C"/>
                  </a:solidFill>
                </a:uFill>
                <a:latin typeface="Calibri"/>
              </a:rPr>
              <a:t> </a:t>
            </a:r>
            <a:r>
              <a:rPr lang="en-IN" sz="2000" b="1" u="sng" strike="noStrike" dirty="0">
                <a:solidFill>
                  <a:srgbClr val="1F487C"/>
                </a:solidFill>
                <a:effectLst/>
                <a:uFill>
                  <a:solidFill>
                    <a:srgbClr val="1F487C"/>
                  </a:solidFill>
                </a:uFill>
                <a:latin typeface="Calibri"/>
              </a:rPr>
              <a:t>Solution</a:t>
            </a:r>
            <a:r>
              <a:rPr lang="en-IN" sz="2000" b="1" u="sng" strike="noStrike" spc="-65" dirty="0">
                <a:solidFill>
                  <a:srgbClr val="1F487C"/>
                </a:solidFill>
                <a:effectLst/>
                <a:uFill>
                  <a:solidFill>
                    <a:srgbClr val="1F487C"/>
                  </a:solidFill>
                </a:uFill>
                <a:latin typeface="Calibri"/>
              </a:rPr>
              <a:t> </a:t>
            </a:r>
            <a:r>
              <a:rPr lang="en-IN" sz="2000" b="1" u="sng" strike="noStrike" spc="-51" dirty="0">
                <a:solidFill>
                  <a:srgbClr val="1F487C"/>
                </a:solidFill>
                <a:effectLst/>
                <a:uFill>
                  <a:solidFill>
                    <a:srgbClr val="1F487C"/>
                  </a:solidFill>
                </a:uFill>
                <a:latin typeface="Calibri"/>
              </a:rPr>
              <a:t>: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• When </a:t>
            </a:r>
            <a:r>
              <a:rPr lang="en-IN" sz="1600" b="1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MPLADS data is fragmented</a:t>
            </a: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, the system uses a </a:t>
            </a:r>
            <a:r>
              <a:rPr lang="en-IN" sz="1600" b="1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centralized surveillance architecture</a:t>
            </a: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 — project tracking (primary), anomaly detection (secondary), and risk analysis (tertiary).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• A </a:t>
            </a:r>
            <a:r>
              <a:rPr lang="en-IN" sz="1600" b="1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smart analytics framework</a:t>
            </a: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IN" sz="1600" b="0" u="none" strike="noStrike" dirty="0" err="1">
                <a:solidFill>
                  <a:srgbClr val="000000"/>
                </a:solidFill>
                <a:effectLst/>
                <a:uFillTx/>
                <a:latin typeface="Calibri"/>
              </a:rPr>
              <a:t>analyzes</a:t>
            </a: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 project, payment, and milestone data to detect anomalies and </a:t>
            </a:r>
            <a:r>
              <a:rPr lang="en-IN" sz="1600" b="1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identify irregular spending patterns</a:t>
            </a: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• An </a:t>
            </a:r>
            <a:r>
              <a:rPr lang="en-IN" sz="1600" b="1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AI-enabled anomaly detection system</a:t>
            </a: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 with a </a:t>
            </a:r>
            <a:r>
              <a:rPr lang="en-IN" sz="1600" b="1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real-time dashboard</a:t>
            </a: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 provides proactive monitoring for </a:t>
            </a:r>
            <a:r>
              <a:rPr lang="en-IN" sz="1600" b="1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efficient utilization of public funds</a:t>
            </a: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40">
              <a:lnSpc>
                <a:spcPct val="100000"/>
              </a:lnSpc>
              <a:tabLst>
                <a:tab pos="299160" algn="l"/>
              </a:tabLst>
            </a:pPr>
            <a:endParaRPr lang="en-IN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object 14"/>
          <p:cNvSpPr/>
          <p:nvPr/>
        </p:nvSpPr>
        <p:spPr>
          <a:xfrm>
            <a:off x="8226240" y="2664616"/>
            <a:ext cx="3965760" cy="37067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3320" rIns="0" bIns="0" anchor="t">
            <a:spAutoFit/>
          </a:bodyPr>
          <a:lstStyle/>
          <a:p>
            <a:pPr marL="270000" indent="-457200">
              <a:lnSpc>
                <a:spcPct val="100000"/>
              </a:lnSpc>
            </a:pP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• </a:t>
            </a:r>
            <a:r>
              <a:rPr lang="en-IN" sz="16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MPLADS surveillance system</a:t>
            </a: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to monitor project lifecycle and public fund utilization.</a:t>
            </a:r>
          </a:p>
          <a:p>
            <a:pPr marL="270000" indent="-457200">
              <a:lnSpc>
                <a:spcPct val="100000"/>
              </a:lnSpc>
            </a:pP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• </a:t>
            </a:r>
            <a:r>
              <a:rPr lang="en-IN" sz="16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Transforms fragmented MPLADS project, payment, and milestone data</a:t>
            </a: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into actionable anomaly and risk insights.</a:t>
            </a:r>
          </a:p>
          <a:p>
            <a:pPr marL="270000" indent="-457200">
              <a:lnSpc>
                <a:spcPct val="100000"/>
              </a:lnSpc>
            </a:pP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• </a:t>
            </a:r>
            <a:r>
              <a:rPr lang="en-IN" sz="16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AI-powered anomaly detection algorithm</a:t>
            </a: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identifies unusual spending, duplicate payments, project delays, and financial irregularities.</a:t>
            </a:r>
          </a:p>
          <a:p>
            <a:pPr marL="270000" indent="-457200">
              <a:lnSpc>
                <a:spcPct val="100000"/>
              </a:lnSpc>
            </a:pP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• </a:t>
            </a:r>
            <a:r>
              <a:rPr lang="en-IN" sz="16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Real-time Smart Surveillance Dashboard</a:t>
            </a: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enables proactive monitoring, risk prioritization, and faster investigation of suspicious projects.</a:t>
            </a:r>
          </a:p>
        </p:txBody>
      </p:sp>
      <p:sp>
        <p:nvSpPr>
          <p:cNvPr id="97" name="object 15"/>
          <p:cNvSpPr/>
          <p:nvPr/>
        </p:nvSpPr>
        <p:spPr>
          <a:xfrm>
            <a:off x="5425560" y="826200"/>
            <a:ext cx="360" cy="1449720"/>
          </a:xfrm>
          <a:custGeom>
            <a:avLst/>
            <a:gdLst>
              <a:gd name="textAreaLeft" fmla="*/ 0 w 360"/>
              <a:gd name="textAreaRight" fmla="*/ 2880 w 360"/>
              <a:gd name="textAreaTop" fmla="*/ 0 h 1449720"/>
              <a:gd name="textAreaBottom" fmla="*/ 1450800 h 1449720"/>
            </a:gdLst>
            <a:ahLst/>
            <a:cxnLst/>
            <a:rect l="textAreaLeft" t="textAreaTop" r="textAreaRight" b="textAreaBottom"/>
            <a:pathLst>
              <a:path h="1450975">
                <a:moveTo>
                  <a:pt x="0" y="0"/>
                </a:moveTo>
                <a:lnTo>
                  <a:pt x="0" y="1450593"/>
                </a:lnTo>
              </a:path>
            </a:pathLst>
          </a:custGeom>
          <a:noFill/>
          <a:ln w="9525">
            <a:solidFill>
              <a:srgbClr val="497D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sldNum" idx="34"/>
          </p:nvPr>
        </p:nvSpPr>
        <p:spPr>
          <a:xfrm>
            <a:off x="11375640" y="6464520"/>
            <a:ext cx="165240" cy="18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8160" indent="0" algn="l">
              <a:lnSpc>
                <a:spcPts val="1239"/>
              </a:lnSpc>
              <a:buNone/>
              <a:tabLst>
                <a:tab pos="0" algn="l"/>
              </a:tabLst>
              <a:def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marL="38160" indent="0" algn="l">
              <a:lnSpc>
                <a:spcPts val="1239"/>
              </a:lnSpc>
              <a:buNone/>
              <a:tabLst>
                <a:tab pos="0" algn="l"/>
              </a:tabLst>
            </a:pPr>
            <a:fld id="{828A5142-EBFD-458F-BA4E-C11406D59729}" type="slidenum">
              <a: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rPr>
              <a:t>2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9" name="Picture 30"/>
          <p:cNvPicPr/>
          <p:nvPr/>
        </p:nvPicPr>
        <p:blipFill>
          <a:blip r:embed="rId3"/>
          <a:srcRect l="1112" t="7125" r="1112" b="4283"/>
          <a:stretch/>
        </p:blipFill>
        <p:spPr>
          <a:xfrm>
            <a:off x="4037700" y="2517120"/>
            <a:ext cx="4116600" cy="324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Rectangle 99"/>
          <p:cNvSpPr/>
          <p:nvPr/>
        </p:nvSpPr>
        <p:spPr>
          <a:xfrm>
            <a:off x="367200" y="56520"/>
            <a:ext cx="1612440" cy="644877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 spc="-14" dirty="0">
                <a:solidFill>
                  <a:srgbClr val="000000"/>
                </a:solidFill>
                <a:effectLst/>
                <a:uFillTx/>
                <a:latin typeface="Calibri"/>
              </a:rPr>
              <a:t>Data </a:t>
            </a:r>
          </a:p>
          <a:p>
            <a:pPr>
              <a:lnSpc>
                <a:spcPct val="100000"/>
              </a:lnSpc>
            </a:pPr>
            <a:r>
              <a:rPr lang="en-US" sz="1800" b="0" u="none" strike="noStrike" spc="-14" dirty="0">
                <a:solidFill>
                  <a:srgbClr val="000000"/>
                </a:solidFill>
                <a:effectLst/>
                <a:uFillTx/>
                <a:latin typeface="Calibri"/>
              </a:rPr>
              <a:t>Detectives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Picture 100"/>
          <p:cNvPicPr/>
          <p:nvPr/>
        </p:nvPicPr>
        <p:blipFill>
          <a:blip r:embed="rId4"/>
          <a:stretch/>
        </p:blipFill>
        <p:spPr>
          <a:xfrm>
            <a:off x="9954720" y="27000"/>
            <a:ext cx="2237040" cy="747000"/>
          </a:xfrm>
          <a:prstGeom prst="rect">
            <a:avLst/>
          </a:prstGeom>
          <a:noFill/>
          <a:ln w="3816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978360" y="21240"/>
            <a:ext cx="4236120" cy="452880"/>
          </a:xfrm>
          <a:prstGeom prst="rect">
            <a:avLst/>
          </a:prstGeom>
          <a:noFill/>
          <a:ln w="0">
            <a:noFill/>
          </a:ln>
        </p:spPr>
        <p:txBody>
          <a:bodyPr lIns="0" tIns="12240" rIns="0" bIns="0" anchor="t">
            <a:spAutoFit/>
          </a:bodyPr>
          <a:lstStyle/>
          <a:p>
            <a:pPr marL="12600" indent="0" algn="l">
              <a:lnSpc>
                <a:spcPct val="100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en-IN" sz="2800" b="1" u="none" strike="noStrike" spc="-26">
                <a:solidFill>
                  <a:schemeClr val="dk1"/>
                </a:solidFill>
                <a:effectLst/>
                <a:uFillTx/>
                <a:latin typeface="Times New Roman"/>
              </a:rPr>
              <a:t>TECHNICAL</a:t>
            </a:r>
            <a:r>
              <a:rPr lang="en-IN" sz="2800" b="1" u="none" strike="noStrike" spc="-221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IN" sz="2800" b="1" u="none" strike="noStrike" spc="-11">
                <a:solidFill>
                  <a:schemeClr val="dk1"/>
                </a:solidFill>
                <a:effectLst/>
                <a:uFillTx/>
                <a:latin typeface="Times New Roman"/>
              </a:rPr>
              <a:t>APPROACH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3" name="object 13"/>
          <p:cNvSpPr/>
          <p:nvPr/>
        </p:nvSpPr>
        <p:spPr>
          <a:xfrm>
            <a:off x="3612600" y="741240"/>
            <a:ext cx="1414440" cy="33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332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IN" sz="2000" b="1" u="sng" strike="noStrike">
                <a:solidFill>
                  <a:srgbClr val="1F487C"/>
                </a:solidFill>
                <a:effectLst/>
                <a:uFill>
                  <a:solidFill>
                    <a:srgbClr val="1F487C"/>
                  </a:solidFill>
                </a:uFill>
                <a:latin typeface="Calibri"/>
              </a:rPr>
              <a:t>FLOW</a:t>
            </a:r>
            <a:r>
              <a:rPr lang="en-IN" sz="2000" b="1" u="sng" strike="noStrike" spc="-96">
                <a:solidFill>
                  <a:srgbClr val="1F487C"/>
                </a:solidFill>
                <a:effectLst/>
                <a:uFill>
                  <a:solidFill>
                    <a:srgbClr val="1F487C"/>
                  </a:solidFill>
                </a:uFill>
                <a:latin typeface="Calibri"/>
              </a:rPr>
              <a:t> </a:t>
            </a:r>
            <a:r>
              <a:rPr lang="en-IN" sz="2000" b="1" u="sng" strike="noStrike" spc="-20">
                <a:solidFill>
                  <a:srgbClr val="1F487C"/>
                </a:solidFill>
                <a:effectLst/>
                <a:uFill>
                  <a:solidFill>
                    <a:srgbClr val="1F487C"/>
                  </a:solidFill>
                </a:uFill>
                <a:latin typeface="Calibri"/>
              </a:rPr>
              <a:t>CHART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object 37"/>
          <p:cNvSpPr/>
          <p:nvPr/>
        </p:nvSpPr>
        <p:spPr>
          <a:xfrm>
            <a:off x="78840" y="900000"/>
            <a:ext cx="3220560" cy="54142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Aft>
                <a:spcPts val="992"/>
              </a:spcAft>
            </a:pPr>
            <a:r>
              <a:rPr lang="en-US" sz="20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Rule-based statistical checks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9"/>
              </a:spcBef>
            </a:pP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1)Z-Score Analysis: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Identifies allocations that are far from the national average as outliers. 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2)IQR-Based Detection: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Flags values outside the normal range using Q1, Q3, and IQR. 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3)Peer Group Comparison: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Compares each MP’s allocation with the average of MPs in the same state. 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4)Duplicate Detection: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Detects repeated allocation amounts, especially within the same state. 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5)Term Compliance: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Checks whether the MP’s term dates are valid and up to date. 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9"/>
              </a:spcBef>
            </a:pPr>
            <a:endParaRPr lang="en-IN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object 43"/>
          <p:cNvSpPr/>
          <p:nvPr/>
        </p:nvSpPr>
        <p:spPr>
          <a:xfrm>
            <a:off x="144720" y="115560"/>
            <a:ext cx="1122840" cy="2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35"/>
          </p:nvPr>
        </p:nvSpPr>
        <p:spPr>
          <a:xfrm>
            <a:off x="11375640" y="6464520"/>
            <a:ext cx="165240" cy="18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8160" indent="0" algn="l">
              <a:lnSpc>
                <a:spcPts val="1239"/>
              </a:lnSpc>
              <a:buNone/>
              <a:tabLst>
                <a:tab pos="0" algn="l"/>
              </a:tabLst>
              <a:def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marL="38160" indent="0" algn="l">
              <a:lnSpc>
                <a:spcPts val="1239"/>
              </a:lnSpc>
              <a:buNone/>
              <a:tabLst>
                <a:tab pos="0" algn="l"/>
              </a:tabLst>
            </a:pPr>
            <a:fld id="{AFC31132-E3CD-418C-BDE7-D73D8F938DE5}" type="slidenum">
              <a: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7" name="Picture 45"/>
          <p:cNvPicPr/>
          <p:nvPr/>
        </p:nvPicPr>
        <p:blipFill>
          <a:blip r:embed="rId2"/>
          <a:srcRect t="21791" b="28149"/>
          <a:stretch/>
        </p:blipFill>
        <p:spPr>
          <a:xfrm>
            <a:off x="3299760" y="5190840"/>
            <a:ext cx="4089600" cy="108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Box 46"/>
          <p:cNvSpPr/>
          <p:nvPr/>
        </p:nvSpPr>
        <p:spPr>
          <a:xfrm>
            <a:off x="3606120" y="4770720"/>
            <a:ext cx="242676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Methodology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object 39"/>
          <p:cNvSpPr/>
          <p:nvPr/>
        </p:nvSpPr>
        <p:spPr>
          <a:xfrm>
            <a:off x="7541280" y="4816800"/>
            <a:ext cx="4509360" cy="1504349"/>
          </a:xfrm>
          <a:prstGeom prst="rect">
            <a:avLst/>
          </a:prstGeom>
          <a:solidFill>
            <a:srgbClr val="94B3D6"/>
          </a:solidFill>
          <a:ln w="9525">
            <a:solidFill>
              <a:srgbClr val="DCE6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2960" rIns="0" bIns="0" anchor="t">
            <a:spAutoFit/>
          </a:bodyPr>
          <a:lstStyle/>
          <a:p>
            <a:pPr marL="92160">
              <a:lnSpc>
                <a:spcPct val="100000"/>
              </a:lnSpc>
              <a:spcBef>
                <a:spcPts val="811"/>
              </a:spcBef>
            </a:pPr>
            <a:r>
              <a:rPr lang="en-IN" sz="1700" b="1" u="none" strike="noStrike" dirty="0">
                <a:solidFill>
                  <a:srgbClr val="FF0000"/>
                </a:solidFill>
                <a:effectLst/>
                <a:uFillTx/>
                <a:latin typeface="Calibri"/>
              </a:rPr>
              <a:t>GitHub </a:t>
            </a:r>
            <a:r>
              <a:rPr lang="en-IN" sz="1700" b="1" u="none" strike="noStrike" spc="-11" dirty="0">
                <a:solidFill>
                  <a:srgbClr val="FF0000"/>
                </a:solidFill>
                <a:effectLst/>
                <a:uFillTx/>
                <a:latin typeface="Calibri"/>
              </a:rPr>
              <a:t>link: </a:t>
            </a:r>
            <a:r>
              <a:rPr lang="en-IN" sz="1700" b="1" u="none" strike="noStrike" spc="-11" dirty="0">
                <a:solidFill>
                  <a:srgbClr val="0000FF"/>
                </a:solidFill>
                <a:effectLst/>
                <a:uFillTx/>
                <a:latin typeface="Calibri"/>
                <a:hlinkClick r:id="rId3"/>
              </a:rPr>
              <a:t>Link</a:t>
            </a:r>
            <a:r>
              <a:rPr lang="en-IN" sz="1700" b="1" u="none" strike="noStrike" spc="-11" dirty="0">
                <a:solidFill>
                  <a:srgbClr val="1E1C11"/>
                </a:solidFill>
                <a:effectLst/>
                <a:uFillTx/>
                <a:latin typeface="Calibri"/>
              </a:rPr>
              <a:t> </a:t>
            </a:r>
            <a:endParaRPr lang="en-IN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2160">
              <a:lnSpc>
                <a:spcPct val="100000"/>
              </a:lnSpc>
              <a:spcBef>
                <a:spcPts val="811"/>
              </a:spcBef>
            </a:pPr>
            <a:r>
              <a:rPr lang="en-IN" sz="1700" b="1" u="none" strike="noStrike" spc="-11" dirty="0">
                <a:solidFill>
                  <a:srgbClr val="FF0000"/>
                </a:solidFill>
                <a:effectLst/>
                <a:uFillTx/>
                <a:latin typeface="Calibri"/>
              </a:rPr>
              <a:t>YOUTUBE VIDEO LINK : </a:t>
            </a:r>
            <a:r>
              <a:rPr lang="en-IN" sz="1800" b="1" u="none" strike="noStrike" dirty="0">
                <a:solidFill>
                  <a:srgbClr val="FF0000"/>
                </a:solidFill>
                <a:effectLst/>
                <a:uFillTx/>
                <a:latin typeface="Calibri"/>
                <a:hlinkClick r:id="rId4"/>
              </a:rPr>
              <a:t>LINK</a:t>
            </a:r>
            <a:r>
              <a:rPr lang="en-IN" sz="1800" b="1" u="none" strike="noStrike" spc="-65" dirty="0">
                <a:solidFill>
                  <a:srgbClr val="FF0000"/>
                </a:solidFill>
                <a:effectLst/>
                <a:uFillTx/>
                <a:latin typeface="Calibri"/>
              </a:rPr>
              <a:t> </a:t>
            </a:r>
          </a:p>
          <a:p>
            <a:pPr marL="92160">
              <a:lnSpc>
                <a:spcPct val="100000"/>
              </a:lnSpc>
              <a:spcBef>
                <a:spcPts val="811"/>
              </a:spcBef>
            </a:pPr>
            <a:r>
              <a:rPr lang="en-IN" b="1" dirty="0">
                <a:solidFill>
                  <a:schemeClr val="accent2"/>
                </a:solidFill>
              </a:rPr>
              <a:t>92% – 95% Functional Working Prototype</a:t>
            </a:r>
          </a:p>
          <a:p>
            <a:pPr marL="92160">
              <a:lnSpc>
                <a:spcPct val="100000"/>
              </a:lnSpc>
              <a:spcBef>
                <a:spcPts val="811"/>
              </a:spcBef>
            </a:pPr>
            <a:r>
              <a:rPr lang="en-IN" sz="1800" b="1" u="none" strike="noStrike" spc="-11" dirty="0">
                <a:solidFill>
                  <a:srgbClr val="FF0000"/>
                </a:solidFill>
                <a:effectLst/>
                <a:uFillTx/>
                <a:latin typeface="Calibri"/>
              </a:rPr>
              <a:t>Live Demo Link: </a:t>
            </a:r>
            <a:r>
              <a:rPr lang="en-IN" sz="1800" b="1" u="none" strike="noStrike" spc="-11" dirty="0">
                <a:solidFill>
                  <a:srgbClr val="FF0000"/>
                </a:solidFill>
                <a:effectLst/>
                <a:uFillTx/>
                <a:latin typeface="Calibri"/>
                <a:hlinkClick r:id="rId5"/>
              </a:rPr>
              <a:t>LINK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3240000" y="540000"/>
            <a:ext cx="8951760" cy="4237920"/>
          </a:xfrm>
          <a:prstGeom prst="rect">
            <a:avLst/>
          </a:prstGeom>
          <a:blipFill rotWithShape="0">
            <a:blip r:embed="rId6"/>
            <a:srcRect/>
            <a:stretch/>
          </a:blipFill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object 17"/>
          <p:cNvSpPr/>
          <p:nvPr/>
        </p:nvSpPr>
        <p:spPr>
          <a:xfrm>
            <a:off x="0" y="0"/>
            <a:ext cx="2159640" cy="719640"/>
          </a:xfrm>
          <a:custGeom>
            <a:avLst/>
            <a:gdLst>
              <a:gd name="textAreaLeft" fmla="*/ 0 w 2159640"/>
              <a:gd name="textAreaRight" fmla="*/ 2160720 w 2159640"/>
              <a:gd name="textAreaTop" fmla="*/ 0 h 719640"/>
              <a:gd name="textAreaBottom" fmla="*/ 720360 h 719640"/>
            </a:gdLst>
            <a:ahLst/>
            <a:cxnLst/>
            <a:rect l="textAreaLeft" t="textAreaTop" r="textAreaRight" b="textAreaBottom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2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2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180000" y="180000"/>
            <a:ext cx="1858680" cy="401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 Detectives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Picture 112"/>
          <p:cNvPicPr/>
          <p:nvPr/>
        </p:nvPicPr>
        <p:blipFill>
          <a:blip r:embed="rId7"/>
          <a:stretch/>
        </p:blipFill>
        <p:spPr>
          <a:xfrm>
            <a:off x="9900000" y="0"/>
            <a:ext cx="2204640" cy="899640"/>
          </a:xfrm>
          <a:prstGeom prst="rect">
            <a:avLst/>
          </a:prstGeom>
          <a:noFill/>
          <a:ln w="3816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object 2"/>
          <p:cNvGrpSpPr/>
          <p:nvPr/>
        </p:nvGrpSpPr>
        <p:grpSpPr>
          <a:xfrm>
            <a:off x="0" y="0"/>
            <a:ext cx="12191040" cy="752040"/>
            <a:chOff x="0" y="0"/>
            <a:chExt cx="12191040" cy="752040"/>
          </a:xfrm>
        </p:grpSpPr>
        <p:pic>
          <p:nvPicPr>
            <p:cNvPr id="115" name="object 3" descr="https://www.sih.gov.in/img1/SIH-Logo.png"/>
            <p:cNvPicPr/>
            <p:nvPr/>
          </p:nvPicPr>
          <p:blipFill>
            <a:blip r:embed="rId2"/>
            <a:stretch/>
          </p:blipFill>
          <p:spPr>
            <a:xfrm>
              <a:off x="10597320" y="0"/>
              <a:ext cx="1435680" cy="649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6" name="object 4"/>
            <p:cNvPicPr/>
            <p:nvPr/>
          </p:nvPicPr>
          <p:blipFill>
            <a:blip r:embed="rId3"/>
            <a:stretch/>
          </p:blipFill>
          <p:spPr>
            <a:xfrm>
              <a:off x="0" y="664200"/>
              <a:ext cx="12191040" cy="87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7" name="object 5"/>
            <p:cNvSpPr/>
            <p:nvPr/>
          </p:nvSpPr>
          <p:spPr>
            <a:xfrm>
              <a:off x="0" y="690840"/>
              <a:ext cx="12191040" cy="360"/>
            </a:xfrm>
            <a:custGeom>
              <a:avLst/>
              <a:gdLst>
                <a:gd name="textAreaLeft" fmla="*/ 0 w 12191040"/>
                <a:gd name="textAreaRight" fmla="*/ 12192120 w 12191040"/>
                <a:gd name="textAreaTop" fmla="*/ 0 h 360"/>
                <a:gd name="textAreaBottom" fmla="*/ 2880 h 360"/>
              </a:gdLst>
              <a:ahLst/>
              <a:cxnLst/>
              <a:rect l="textAreaLeft" t="textAreaTop" r="textAreaRight" b="textAreaBottom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5400">
              <a:solidFill>
                <a:srgbClr val="4F81BC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3535560" y="96480"/>
            <a:ext cx="5119920" cy="452880"/>
          </a:xfrm>
          <a:prstGeom prst="rect">
            <a:avLst/>
          </a:prstGeom>
          <a:noFill/>
          <a:ln w="0">
            <a:noFill/>
          </a:ln>
        </p:spPr>
        <p:txBody>
          <a:bodyPr lIns="0" tIns="12240" rIns="0" bIns="0" anchor="t">
            <a:spAutoFit/>
          </a:bodyPr>
          <a:lstStyle/>
          <a:p>
            <a:pPr marL="13320" indent="0" algn="l">
              <a:lnSpc>
                <a:spcPct val="100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en-IN" sz="2800" b="1" u="none" strike="noStrike" spc="-31">
                <a:solidFill>
                  <a:schemeClr val="dk1"/>
                </a:solidFill>
                <a:effectLst/>
                <a:uFillTx/>
                <a:latin typeface="Times New Roman"/>
              </a:rPr>
              <a:t>FEASIBILITY</a:t>
            </a:r>
            <a:r>
              <a:rPr lang="en-IN" sz="2800" b="1" u="none" strike="noStrike" spc="-224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AND</a:t>
            </a:r>
            <a:r>
              <a:rPr lang="en-IN" sz="2800" b="1" u="none" strike="noStrike" spc="-26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IN" sz="2800" b="1" u="none" strike="noStrike" spc="-11">
                <a:solidFill>
                  <a:schemeClr val="dk1"/>
                </a:solidFill>
                <a:effectLst/>
                <a:uFillTx/>
                <a:latin typeface="Times New Roman"/>
              </a:rPr>
              <a:t>VIABILITY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9" name="object 7"/>
          <p:cNvSpPr/>
          <p:nvPr/>
        </p:nvSpPr>
        <p:spPr>
          <a:xfrm>
            <a:off x="6298560" y="3740400"/>
            <a:ext cx="878400" cy="54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700" b="1" u="none" strike="noStrike" spc="-11">
                <a:solidFill>
                  <a:srgbClr val="1F487C"/>
                </a:solidFill>
                <a:effectLst/>
                <a:uFillTx/>
                <a:latin typeface="Times New Roman"/>
              </a:rPr>
              <a:t>Strategy: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9"/>
              </a:spcBef>
            </a:pP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object 8"/>
          <p:cNvSpPr/>
          <p:nvPr/>
        </p:nvSpPr>
        <p:spPr>
          <a:xfrm>
            <a:off x="6247800" y="649800"/>
            <a:ext cx="5812200" cy="56809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43920">
              <a:lnSpc>
                <a:spcPct val="100000"/>
              </a:lnSpc>
              <a:spcBef>
                <a:spcPts val="99"/>
              </a:spcBef>
            </a:pPr>
            <a:r>
              <a:rPr lang="en-IN" sz="1800" b="1" u="none" strike="noStrike" spc="-11" dirty="0">
                <a:solidFill>
                  <a:srgbClr val="1F487C"/>
                </a:solidFill>
                <a:effectLst/>
                <a:uFillTx/>
                <a:latin typeface="Times New Roman"/>
              </a:rPr>
              <a:t>Commercial</a:t>
            </a:r>
            <a:r>
              <a:rPr lang="en-IN" sz="1800" b="1" u="none" strike="noStrike" spc="-26" dirty="0">
                <a:solidFill>
                  <a:srgbClr val="1F487C"/>
                </a:solidFill>
                <a:effectLst/>
                <a:uFillTx/>
                <a:latin typeface="Times New Roman"/>
              </a:rPr>
              <a:t> </a:t>
            </a:r>
            <a:r>
              <a:rPr lang="en-IN" sz="1800" b="1" u="none" strike="noStrike" spc="-11" dirty="0">
                <a:solidFill>
                  <a:srgbClr val="1F487C"/>
                </a:solidFill>
                <a:effectLst/>
                <a:uFillTx/>
                <a:latin typeface="Times New Roman"/>
              </a:rPr>
              <a:t>feasibility</a:t>
            </a:r>
            <a:r>
              <a:rPr lang="en-US" sz="1800" b="1" u="none" strike="noStrike" spc="-11" dirty="0">
                <a:solidFill>
                  <a:srgbClr val="1F487C"/>
                </a:solidFill>
                <a:effectLst/>
                <a:uFillTx/>
                <a:latin typeface="Times New Roman"/>
              </a:rPr>
              <a:t>: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No new infrastructure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 Reads from [named source] already collected under the MPLADS Guidelines; needs no new hardware or a new data-collection process.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Configurable, not hardcoded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 Limits like the 75-day sanction window and one-year completion norm sit in a config file, so a revised Guidelines edition means a settings change, not a rebuild</a:t>
            </a:r>
          </a:p>
          <a:p>
            <a:pPr marL="180000" indent="-457200">
              <a:lnSpc>
                <a:spcPct val="100000"/>
              </a:lnSpc>
            </a:pP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Incremental </a:t>
            </a:r>
            <a:r>
              <a:rPr lang="en-IN" sz="1800" b="1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adoption</a:t>
            </a:r>
            <a:r>
              <a:rPr lang="en-IN" sz="18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:Can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run on one state or one financial year first, since each rule works independently of the others. 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2"/>
              </a:spcAft>
            </a:pP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AI-based anomaly detection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trained on historical MPLADS data to identify irregular spending patterns.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Statistical pattern recognition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using Z-Score, IQR, and peer variance to detect financial anomalies.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Risk-optimized analytics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with dynamic risk scoring, anomaly prioritization, and real-time alerts.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Fuse project, payment, and milestone data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; implement anomaly detection to flag suspicious activities.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object 9"/>
          <p:cNvSpPr/>
          <p:nvPr/>
        </p:nvSpPr>
        <p:spPr>
          <a:xfrm>
            <a:off x="158760" y="698400"/>
            <a:ext cx="5720760" cy="54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800" b="1" u="none" strike="noStrike" spc="-11" dirty="0">
                <a:solidFill>
                  <a:srgbClr val="1F487C"/>
                </a:solidFill>
                <a:effectLst/>
                <a:uFillTx/>
                <a:latin typeface="Times New Roman"/>
              </a:rPr>
              <a:t>Feasibility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 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Uses existing MPLADS data sources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, avoiding dependency on expensive or specialized hardware.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 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Centralized data processing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combines project, payment, and milestone data for efficient monitoring.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 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Validation with historical datasets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ensures accurate anomaly detection by comparing normal and abnormal spending patterns.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 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Safe testing environment: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All anomaly detection and risk analysis can be tested using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synthetic and historical data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before deployment.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040">
              <a:lnSpc>
                <a:spcPct val="100000"/>
              </a:lnSpc>
              <a:spcBef>
                <a:spcPts val="1196"/>
              </a:spcBef>
            </a:pPr>
            <a:r>
              <a:rPr lang="en-IN" sz="1800" b="1" u="none" strike="noStrike" spc="-11" dirty="0">
                <a:solidFill>
                  <a:srgbClr val="1F487C"/>
                </a:solidFill>
                <a:effectLst/>
                <a:uFillTx/>
                <a:latin typeface="Times New Roman"/>
              </a:rPr>
              <a:t>Challenges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 </a:t>
            </a:r>
            <a:r>
              <a:rPr lang="en-US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Large-scale MPLADS data</a:t>
            </a:r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makes real-time monitoring and analysis challenging.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•Project and payment data may contain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missing, inconsistent, or incomplete records.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•Complex anomaly patterns require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accurate detection with minimal false alerts.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•Continuous data updates can make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risk scores 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2" name="object 10"/>
          <p:cNvGrpSpPr/>
          <p:nvPr/>
        </p:nvGrpSpPr>
        <p:grpSpPr>
          <a:xfrm>
            <a:off x="30960" y="0"/>
            <a:ext cx="12159720" cy="6402960"/>
            <a:chOff x="30960" y="0"/>
            <a:chExt cx="12159720" cy="6402960"/>
          </a:xfrm>
        </p:grpSpPr>
        <p:sp>
          <p:nvSpPr>
            <p:cNvPr id="123" name="object 11"/>
            <p:cNvSpPr/>
            <p:nvPr/>
          </p:nvSpPr>
          <p:spPr>
            <a:xfrm>
              <a:off x="30960" y="754560"/>
              <a:ext cx="12159720" cy="5648400"/>
            </a:xfrm>
            <a:custGeom>
              <a:avLst/>
              <a:gdLst>
                <a:gd name="textAreaLeft" fmla="*/ 0 w 12159720"/>
                <a:gd name="textAreaRight" fmla="*/ 12160800 w 12159720"/>
                <a:gd name="textAreaTop" fmla="*/ 0 h 5648400"/>
                <a:gd name="textAreaBottom" fmla="*/ 5649480 h 5648400"/>
              </a:gdLst>
              <a:ahLst/>
              <a:cxnLst/>
              <a:rect l="textAreaLeft" t="textAreaTop" r="textAreaRight" b="textAreaBottom"/>
              <a:pathLst>
                <a:path w="12160885" h="5649595">
                  <a:moveTo>
                    <a:pt x="6096000" y="3008884"/>
                  </a:moveTo>
                  <a:lnTo>
                    <a:pt x="12160758" y="3006852"/>
                  </a:lnTo>
                </a:path>
                <a:path w="12160885" h="5649595">
                  <a:moveTo>
                    <a:pt x="6096000" y="0"/>
                  </a:moveTo>
                  <a:lnTo>
                    <a:pt x="6096000" y="5649531"/>
                  </a:lnTo>
                </a:path>
                <a:path w="12160885" h="5649595">
                  <a:moveTo>
                    <a:pt x="0" y="3168777"/>
                  </a:moveTo>
                  <a:lnTo>
                    <a:pt x="6096000" y="3168777"/>
                  </a:lnTo>
                </a:path>
              </a:pathLst>
            </a:custGeom>
            <a:noFill/>
            <a:ln w="12700">
              <a:solidFill>
                <a:srgbClr val="BD4A47"/>
              </a:solidFill>
              <a:prstDash val="sys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24" name="object 12"/>
            <p:cNvPicPr/>
            <p:nvPr/>
          </p:nvPicPr>
          <p:blipFill>
            <a:blip r:embed="rId4"/>
            <a:stretch/>
          </p:blipFill>
          <p:spPr>
            <a:xfrm>
              <a:off x="81720" y="0"/>
              <a:ext cx="1435680" cy="673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5" name="object 13"/>
            <p:cNvSpPr/>
            <p:nvPr/>
          </p:nvSpPr>
          <p:spPr>
            <a:xfrm>
              <a:off x="81720" y="24120"/>
              <a:ext cx="1336680" cy="594720"/>
            </a:xfrm>
            <a:custGeom>
              <a:avLst/>
              <a:gdLst>
                <a:gd name="textAreaLeft" fmla="*/ 0 w 1336680"/>
                <a:gd name="textAreaRight" fmla="*/ 1337760 w 1336680"/>
                <a:gd name="textAreaTop" fmla="*/ 0 h 594720"/>
                <a:gd name="textAreaBottom" fmla="*/ 595800 h 594720"/>
              </a:gdLst>
              <a:ahLst/>
              <a:cxnLst/>
              <a:rect l="textAreaLeft" t="textAreaTop" r="textAreaRight" b="textAreaBottom"/>
              <a:pathLst>
                <a:path w="1209675" h="585470">
                  <a:moveTo>
                    <a:pt x="0" y="292480"/>
                  </a:moveTo>
                  <a:lnTo>
                    <a:pt x="12284" y="233532"/>
                  </a:lnTo>
                  <a:lnTo>
                    <a:pt x="47518" y="178629"/>
                  </a:lnTo>
                  <a:lnTo>
                    <a:pt x="103269" y="128947"/>
                  </a:lnTo>
                  <a:lnTo>
                    <a:pt x="138078" y="106431"/>
                  </a:lnTo>
                  <a:lnTo>
                    <a:pt x="177105" y="85661"/>
                  </a:lnTo>
                  <a:lnTo>
                    <a:pt x="220046" y="66784"/>
                  </a:lnTo>
                  <a:lnTo>
                    <a:pt x="266596" y="49948"/>
                  </a:lnTo>
                  <a:lnTo>
                    <a:pt x="316452" y="35298"/>
                  </a:lnTo>
                  <a:lnTo>
                    <a:pt x="369310" y="22983"/>
                  </a:lnTo>
                  <a:lnTo>
                    <a:pt x="424866" y="13148"/>
                  </a:lnTo>
                  <a:lnTo>
                    <a:pt x="482816" y="5941"/>
                  </a:lnTo>
                  <a:lnTo>
                    <a:pt x="542855" y="1509"/>
                  </a:lnTo>
                  <a:lnTo>
                    <a:pt x="604681" y="0"/>
                  </a:lnTo>
                  <a:lnTo>
                    <a:pt x="666506" y="1509"/>
                  </a:lnTo>
                  <a:lnTo>
                    <a:pt x="726546" y="5941"/>
                  </a:lnTo>
                  <a:lnTo>
                    <a:pt x="784496" y="13148"/>
                  </a:lnTo>
                  <a:lnTo>
                    <a:pt x="840052" y="22983"/>
                  </a:lnTo>
                  <a:lnTo>
                    <a:pt x="892910" y="35298"/>
                  </a:lnTo>
                  <a:lnTo>
                    <a:pt x="942766" y="49948"/>
                  </a:lnTo>
                  <a:lnTo>
                    <a:pt x="989317" y="66784"/>
                  </a:lnTo>
                  <a:lnTo>
                    <a:pt x="1032258" y="85661"/>
                  </a:lnTo>
                  <a:lnTo>
                    <a:pt x="1071285" y="106431"/>
                  </a:lnTo>
                  <a:lnTo>
                    <a:pt x="1106095" y="128947"/>
                  </a:lnTo>
                  <a:lnTo>
                    <a:pt x="1136384" y="153062"/>
                  </a:lnTo>
                  <a:lnTo>
                    <a:pt x="1182181" y="205501"/>
                  </a:lnTo>
                  <a:lnTo>
                    <a:pt x="1206244" y="262574"/>
                  </a:lnTo>
                  <a:lnTo>
                    <a:pt x="1209366" y="292480"/>
                  </a:lnTo>
                  <a:lnTo>
                    <a:pt x="1206244" y="322387"/>
                  </a:lnTo>
                  <a:lnTo>
                    <a:pt x="1182181" y="379460"/>
                  </a:lnTo>
                  <a:lnTo>
                    <a:pt x="1136384" y="431899"/>
                  </a:lnTo>
                  <a:lnTo>
                    <a:pt x="1106095" y="456014"/>
                  </a:lnTo>
                  <a:lnTo>
                    <a:pt x="1071285" y="478530"/>
                  </a:lnTo>
                  <a:lnTo>
                    <a:pt x="1032258" y="499300"/>
                  </a:lnTo>
                  <a:lnTo>
                    <a:pt x="989317" y="518177"/>
                  </a:lnTo>
                  <a:lnTo>
                    <a:pt x="942766" y="535013"/>
                  </a:lnTo>
                  <a:lnTo>
                    <a:pt x="892910" y="549663"/>
                  </a:lnTo>
                  <a:lnTo>
                    <a:pt x="840052" y="561978"/>
                  </a:lnTo>
                  <a:lnTo>
                    <a:pt x="784496" y="571813"/>
                  </a:lnTo>
                  <a:lnTo>
                    <a:pt x="726546" y="579020"/>
                  </a:lnTo>
                  <a:lnTo>
                    <a:pt x="666506" y="583452"/>
                  </a:lnTo>
                  <a:lnTo>
                    <a:pt x="604681" y="584962"/>
                  </a:lnTo>
                  <a:lnTo>
                    <a:pt x="542855" y="583452"/>
                  </a:lnTo>
                  <a:lnTo>
                    <a:pt x="482816" y="579020"/>
                  </a:lnTo>
                  <a:lnTo>
                    <a:pt x="424866" y="571813"/>
                  </a:lnTo>
                  <a:lnTo>
                    <a:pt x="369310" y="561978"/>
                  </a:lnTo>
                  <a:lnTo>
                    <a:pt x="316452" y="549663"/>
                  </a:lnTo>
                  <a:lnTo>
                    <a:pt x="266596" y="535013"/>
                  </a:lnTo>
                  <a:lnTo>
                    <a:pt x="220046" y="518177"/>
                  </a:lnTo>
                  <a:lnTo>
                    <a:pt x="177105" y="499300"/>
                  </a:lnTo>
                  <a:lnTo>
                    <a:pt x="138078" y="478530"/>
                  </a:lnTo>
                  <a:lnTo>
                    <a:pt x="103269" y="456014"/>
                  </a:lnTo>
                  <a:lnTo>
                    <a:pt x="72981" y="431899"/>
                  </a:lnTo>
                  <a:lnTo>
                    <a:pt x="27185" y="379460"/>
                  </a:lnTo>
                  <a:lnTo>
                    <a:pt x="3121" y="322387"/>
                  </a:lnTo>
                  <a:lnTo>
                    <a:pt x="0" y="292480"/>
                  </a:lnTo>
                  <a:close/>
                </a:path>
              </a:pathLst>
            </a:custGeom>
            <a:noFill/>
            <a:ln w="9525">
              <a:solidFill>
                <a:srgbClr val="497DB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6" name="object 14"/>
          <p:cNvSpPr/>
          <p:nvPr/>
        </p:nvSpPr>
        <p:spPr>
          <a:xfrm>
            <a:off x="401760" y="52275"/>
            <a:ext cx="1336680" cy="517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Data </a:t>
            </a:r>
          </a:p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Detective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ldNum" idx="36"/>
          </p:nvPr>
        </p:nvSpPr>
        <p:spPr>
          <a:xfrm>
            <a:off x="11375640" y="6464520"/>
            <a:ext cx="165240" cy="18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8160" indent="0" algn="l">
              <a:lnSpc>
                <a:spcPts val="1239"/>
              </a:lnSpc>
              <a:buNone/>
              <a:tabLst>
                <a:tab pos="0" algn="l"/>
              </a:tabLst>
              <a:def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marL="38160" indent="0" algn="l">
              <a:lnSpc>
                <a:spcPts val="1239"/>
              </a:lnSpc>
              <a:buNone/>
              <a:tabLst>
                <a:tab pos="0" algn="l"/>
              </a:tabLst>
            </a:pPr>
            <a:fld id="{4DDB76F7-B049-44A1-9324-4D52EA8F7659}" type="slidenum">
              <a: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rPr>
              <a:t>4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8" name="Picture 127"/>
          <p:cNvPicPr/>
          <p:nvPr/>
        </p:nvPicPr>
        <p:blipFill>
          <a:blip r:embed="rId5"/>
          <a:stretch/>
        </p:blipFill>
        <p:spPr>
          <a:xfrm>
            <a:off x="10080000" y="0"/>
            <a:ext cx="2111760" cy="649800"/>
          </a:xfrm>
          <a:prstGeom prst="rect">
            <a:avLst/>
          </a:prstGeom>
          <a:noFill/>
          <a:ln w="3816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object 2"/>
          <p:cNvGrpSpPr/>
          <p:nvPr/>
        </p:nvGrpSpPr>
        <p:grpSpPr>
          <a:xfrm>
            <a:off x="0" y="720360"/>
            <a:ext cx="12191040" cy="167040"/>
            <a:chOff x="0" y="720360"/>
            <a:chExt cx="12191040" cy="167040"/>
          </a:xfrm>
        </p:grpSpPr>
        <p:pic>
          <p:nvPicPr>
            <p:cNvPr id="130" name="object 3"/>
            <p:cNvPicPr/>
            <p:nvPr/>
          </p:nvPicPr>
          <p:blipFill>
            <a:blip r:embed="rId2"/>
            <a:stretch/>
          </p:blipFill>
          <p:spPr>
            <a:xfrm>
              <a:off x="0" y="720360"/>
              <a:ext cx="12191040" cy="1670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1" name="object 4"/>
            <p:cNvSpPr/>
            <p:nvPr/>
          </p:nvSpPr>
          <p:spPr>
            <a:xfrm>
              <a:off x="0" y="747720"/>
              <a:ext cx="12191040" cy="77760"/>
            </a:xfrm>
            <a:custGeom>
              <a:avLst/>
              <a:gdLst>
                <a:gd name="textAreaLeft" fmla="*/ 0 w 12191040"/>
                <a:gd name="textAreaRight" fmla="*/ 12192120 w 12191040"/>
                <a:gd name="textAreaTop" fmla="*/ 0 h 77760"/>
                <a:gd name="textAreaBottom" fmla="*/ 78840 h 77760"/>
              </a:gdLst>
              <a:ahLst/>
              <a:cxnLst/>
              <a:rect l="textAreaLeft" t="textAreaTop" r="textAreaRight" b="textAreaBottom"/>
              <a:pathLst>
                <a:path w="12192000" h="78740">
                  <a:moveTo>
                    <a:pt x="0" y="0"/>
                  </a:moveTo>
                  <a:lnTo>
                    <a:pt x="12191999" y="78612"/>
                  </a:lnTo>
                </a:path>
              </a:pathLst>
            </a:custGeom>
            <a:noFill/>
            <a:ln w="25400">
              <a:solidFill>
                <a:srgbClr val="4F81BC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535560" y="96480"/>
            <a:ext cx="5119920" cy="452880"/>
          </a:xfrm>
          <a:prstGeom prst="rect">
            <a:avLst/>
          </a:prstGeom>
          <a:noFill/>
          <a:ln w="0">
            <a:noFill/>
          </a:ln>
        </p:spPr>
        <p:txBody>
          <a:bodyPr lIns="0" tIns="12240" rIns="0" bIns="0" anchor="t">
            <a:spAutoFit/>
          </a:bodyPr>
          <a:lstStyle/>
          <a:p>
            <a:pPr marL="668520" indent="0" algn="l">
              <a:lnSpc>
                <a:spcPct val="100000"/>
              </a:lnSpc>
              <a:spcBef>
                <a:spcPts val="96"/>
              </a:spcBef>
              <a:buNone/>
              <a:tabLst>
                <a:tab pos="0" algn="l"/>
              </a:tabLst>
            </a:pPr>
            <a:r>
              <a:rPr lang="en-IN" sz="2800" b="1" u="none" strike="noStrike" spc="-54">
                <a:solidFill>
                  <a:schemeClr val="dk1"/>
                </a:solidFill>
                <a:effectLst/>
                <a:uFillTx/>
                <a:latin typeface="Times New Roman"/>
              </a:rPr>
              <a:t>IMPACT</a:t>
            </a:r>
            <a:r>
              <a:rPr lang="en-IN" sz="2800" b="1" u="none" strike="noStrike" spc="-196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AND</a:t>
            </a:r>
            <a:r>
              <a:rPr lang="en-IN" sz="2800" b="1" u="none" strike="noStrike" spc="-20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IN" sz="2800" b="1" u="none" strike="noStrike" spc="-11">
                <a:solidFill>
                  <a:schemeClr val="dk1"/>
                </a:solidFill>
                <a:effectLst/>
                <a:uFillTx/>
                <a:latin typeface="Times New Roman"/>
              </a:rPr>
              <a:t>BENEFITS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33" name="object 6" descr="https://www.sih.gov.in/img1/SIH-Logo.png"/>
          <p:cNvPicPr/>
          <p:nvPr/>
        </p:nvPicPr>
        <p:blipFill>
          <a:blip r:embed="rId3"/>
          <a:stretch/>
        </p:blipFill>
        <p:spPr>
          <a:xfrm>
            <a:off x="10819440" y="69840"/>
            <a:ext cx="1216080" cy="5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object 7"/>
          <p:cNvSpPr/>
          <p:nvPr/>
        </p:nvSpPr>
        <p:spPr>
          <a:xfrm>
            <a:off x="173040" y="661680"/>
            <a:ext cx="6264360" cy="57656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400"/>
              </a:spcBef>
            </a:pPr>
            <a:r>
              <a:rPr lang="en-IN" sz="1700" b="1" u="none" strike="noStrike" dirty="0">
                <a:solidFill>
                  <a:srgbClr val="1F487C"/>
                </a:solidFill>
                <a:effectLst/>
                <a:uFillTx/>
                <a:latin typeface="Times New Roman"/>
              </a:rPr>
              <a:t>Direct</a:t>
            </a:r>
            <a:r>
              <a:rPr lang="en-IN" sz="1700" b="1" u="none" strike="noStrike" spc="-51" dirty="0">
                <a:solidFill>
                  <a:srgbClr val="1F487C"/>
                </a:solidFill>
                <a:effectLst/>
                <a:uFillTx/>
                <a:latin typeface="Times New Roman"/>
              </a:rPr>
              <a:t> </a:t>
            </a:r>
            <a:r>
              <a:rPr lang="en-IN" sz="1700" b="1" u="none" strike="noStrike" dirty="0">
                <a:solidFill>
                  <a:srgbClr val="1F487C"/>
                </a:solidFill>
                <a:effectLst/>
                <a:uFillTx/>
                <a:latin typeface="Times New Roman"/>
              </a:rPr>
              <a:t>Impact</a:t>
            </a:r>
            <a:r>
              <a:rPr lang="en-IN" sz="1700" b="1" u="none" strike="noStrike" spc="-40" dirty="0">
                <a:solidFill>
                  <a:srgbClr val="1F487C"/>
                </a:solidFill>
                <a:effectLst/>
                <a:uFillTx/>
                <a:latin typeface="Times New Roman"/>
              </a:rPr>
              <a:t> </a:t>
            </a:r>
            <a:r>
              <a:rPr lang="en-IN" sz="1700" b="1" u="none" strike="noStrike" dirty="0">
                <a:solidFill>
                  <a:srgbClr val="1F487C"/>
                </a:solidFill>
                <a:effectLst/>
                <a:uFillTx/>
                <a:latin typeface="Times New Roman"/>
              </a:rPr>
              <a:t>on</a:t>
            </a:r>
            <a:r>
              <a:rPr lang="en-IN" sz="1700" b="1" u="none" strike="noStrike" spc="-51" dirty="0">
                <a:solidFill>
                  <a:srgbClr val="1F487C"/>
                </a:solidFill>
                <a:effectLst/>
                <a:uFillTx/>
                <a:latin typeface="Times New Roman"/>
              </a:rPr>
              <a:t> </a:t>
            </a:r>
            <a:r>
              <a:rPr lang="en-IN" sz="1700" b="1" u="none" strike="noStrike" spc="-26" dirty="0">
                <a:solidFill>
                  <a:srgbClr val="1F487C"/>
                </a:solidFill>
                <a:effectLst/>
                <a:uFillTx/>
                <a:latin typeface="Times New Roman"/>
              </a:rPr>
              <a:t>Target</a:t>
            </a:r>
            <a:r>
              <a:rPr lang="en-IN" sz="1700" b="1" u="none" strike="noStrike" spc="-60" dirty="0">
                <a:solidFill>
                  <a:srgbClr val="1F487C"/>
                </a:solidFill>
                <a:effectLst/>
                <a:uFillTx/>
                <a:latin typeface="Times New Roman"/>
              </a:rPr>
              <a:t> </a:t>
            </a:r>
            <a:r>
              <a:rPr lang="en-IN" sz="1700" b="1" u="none" strike="noStrike" spc="-11" dirty="0">
                <a:solidFill>
                  <a:srgbClr val="1F487C"/>
                </a:solidFill>
                <a:effectLst/>
                <a:uFillTx/>
                <a:latin typeface="Times New Roman"/>
              </a:rPr>
              <a:t>Users</a:t>
            </a:r>
            <a:endParaRPr lang="en-IN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Government Authorities: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Enables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proactive monitoring of MPLADS projects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, improving transparency and fund utilization.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Members of Parliament (MPs):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Provides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real-time project insights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, helping track progress, spending, and implementation status.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District Administration &amp; Implementing Agencies: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Enables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early detection of delays and financial irregularities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, improving corrective action.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Citizens &amp; Public: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Ensures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greater transparency and accountability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in public-funded development projects.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1680">
              <a:lnSpc>
                <a:spcPct val="100000"/>
              </a:lnSpc>
              <a:spcBef>
                <a:spcPts val="1576"/>
              </a:spcBef>
            </a:pPr>
            <a:r>
              <a:rPr lang="en-IN" sz="1700" b="1" u="none" strike="noStrike" dirty="0">
                <a:solidFill>
                  <a:srgbClr val="1F487C"/>
                </a:solidFill>
                <a:effectLst/>
                <a:uFillTx/>
                <a:latin typeface="Times New Roman"/>
              </a:rPr>
              <a:t>Strategic</a:t>
            </a:r>
            <a:r>
              <a:rPr lang="en-IN" sz="1700" b="1" u="none" strike="noStrike" spc="-60" dirty="0">
                <a:solidFill>
                  <a:srgbClr val="1F487C"/>
                </a:solidFill>
                <a:effectLst/>
                <a:uFillTx/>
                <a:latin typeface="Times New Roman"/>
              </a:rPr>
              <a:t> </a:t>
            </a:r>
            <a:r>
              <a:rPr lang="en-IN" sz="1700" b="1" u="none" strike="noStrike" spc="-11" dirty="0">
                <a:solidFill>
                  <a:srgbClr val="1F487C"/>
                </a:solidFill>
                <a:effectLst/>
                <a:uFillTx/>
                <a:latin typeface="Times New Roman"/>
              </a:rPr>
              <a:t>Impact</a:t>
            </a:r>
            <a:endParaRPr lang="en-IN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 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Offers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AI-driven MPLADS surveillance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, highly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effective in detecting financial anomalies, project delays, and irregularities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 Strengthens India’s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transparency and accountability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in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public fund management and development projects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Impact: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Contributes to </a:t>
            </a:r>
            <a:r>
              <a:rPr lang="en-IN" sz="1800" b="0" i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Digital India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by establishing </a:t>
            </a:r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indigenous AI-powered monitoring capability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for efficient public fund utilization and governance.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object 8"/>
          <p:cNvSpPr/>
          <p:nvPr/>
        </p:nvSpPr>
        <p:spPr>
          <a:xfrm>
            <a:off x="6683400" y="825480"/>
            <a:ext cx="5335560" cy="3267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076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400"/>
              </a:spcBef>
            </a:pPr>
            <a:r>
              <a:rPr lang="en-IN" sz="1700" b="1" u="none" strike="noStrike" dirty="0">
                <a:solidFill>
                  <a:srgbClr val="1F487C"/>
                </a:solidFill>
                <a:effectLst/>
                <a:uFillTx/>
                <a:latin typeface="Times New Roman"/>
              </a:rPr>
              <a:t>Economic</a:t>
            </a:r>
            <a:r>
              <a:rPr lang="en-IN" sz="1700" b="1" u="none" strike="noStrike" spc="-40" dirty="0">
                <a:solidFill>
                  <a:srgbClr val="1F487C"/>
                </a:solidFill>
                <a:effectLst/>
                <a:uFillTx/>
                <a:latin typeface="Times New Roman"/>
              </a:rPr>
              <a:t> </a:t>
            </a:r>
            <a:r>
              <a:rPr lang="en-IN" sz="1700" b="1" u="none" strike="noStrike" dirty="0">
                <a:solidFill>
                  <a:srgbClr val="1F487C"/>
                </a:solidFill>
                <a:effectLst/>
                <a:uFillTx/>
                <a:latin typeface="Times New Roman"/>
              </a:rPr>
              <a:t>&amp;</a:t>
            </a:r>
            <a:r>
              <a:rPr lang="en-IN" sz="1700" b="1" u="none" strike="noStrike" spc="-34" dirty="0">
                <a:solidFill>
                  <a:srgbClr val="1F487C"/>
                </a:solidFill>
                <a:effectLst/>
                <a:uFillTx/>
                <a:latin typeface="Times New Roman"/>
              </a:rPr>
              <a:t> </a:t>
            </a:r>
            <a:r>
              <a:rPr lang="en-IN" sz="1700" b="1" u="none" strike="noStrike" dirty="0">
                <a:solidFill>
                  <a:srgbClr val="1F487C"/>
                </a:solidFill>
                <a:effectLst/>
                <a:uFillTx/>
                <a:latin typeface="Times New Roman"/>
              </a:rPr>
              <a:t>Strategic</a:t>
            </a:r>
            <a:r>
              <a:rPr lang="en-IN" sz="1700" b="1" u="none" strike="noStrike" spc="-26" dirty="0">
                <a:solidFill>
                  <a:srgbClr val="1F487C"/>
                </a:solidFill>
                <a:effectLst/>
                <a:uFillTx/>
                <a:latin typeface="Times New Roman"/>
              </a:rPr>
              <a:t> </a:t>
            </a:r>
            <a:r>
              <a:rPr lang="en-IN" sz="1700" b="1" u="none" strike="noStrike" spc="-11" dirty="0">
                <a:solidFill>
                  <a:srgbClr val="1F487C"/>
                </a:solidFill>
                <a:effectLst/>
                <a:uFillTx/>
                <a:latin typeface="Times New Roman"/>
              </a:rPr>
              <a:t>Benefits</a:t>
            </a:r>
            <a:endParaRPr lang="en-IN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</a:t>
            </a:r>
            <a:r>
              <a:rPr lang="en-IN" sz="16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Narrows a large search space: </a:t>
            </a: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Instead of an officer checking every work in a district by hand, the ranked queue surfaces the [n] highest-risk works first, out of [total] loaded.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 </a:t>
            </a:r>
            <a:r>
              <a:rPr lang="en-IN" sz="16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Consistent thresholds across a district</a:t>
            </a: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 The same 75-day sanction limit and one-year completion norm apply to every work, removing officer-to-officer variation in what gets flagged.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457200">
              <a:lnSpc>
                <a:spcPct val="100000"/>
              </a:lnSpc>
            </a:pP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• </a:t>
            </a:r>
            <a:r>
              <a:rPr lang="en-IN" sz="16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Traceable evidence, not a black box</a:t>
            </a:r>
            <a:r>
              <a:rPr lang="en-IN" sz="16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 Each flag cites the exact rule and the Guidelines paragraph or peer benchmark it violated, so a reviewing officer can accept or reject it in minutes rather than starting from scratch.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2"/>
              </a:spcAft>
            </a:pP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6" name="object 10"/>
          <p:cNvGrpSpPr/>
          <p:nvPr/>
        </p:nvGrpSpPr>
        <p:grpSpPr>
          <a:xfrm>
            <a:off x="0" y="45720"/>
            <a:ext cx="6542640" cy="6309720"/>
            <a:chOff x="0" y="45720"/>
            <a:chExt cx="6542640" cy="6309720"/>
          </a:xfrm>
        </p:grpSpPr>
        <p:sp>
          <p:nvSpPr>
            <p:cNvPr id="137" name="object 11"/>
            <p:cNvSpPr/>
            <p:nvPr/>
          </p:nvSpPr>
          <p:spPr>
            <a:xfrm>
              <a:off x="0" y="826200"/>
              <a:ext cx="6542640" cy="5529240"/>
            </a:xfrm>
            <a:custGeom>
              <a:avLst/>
              <a:gdLst>
                <a:gd name="textAreaLeft" fmla="*/ 0 w 6542640"/>
                <a:gd name="textAreaRight" fmla="*/ 6543720 w 6542640"/>
                <a:gd name="textAreaTop" fmla="*/ 0 h 5529240"/>
                <a:gd name="textAreaBottom" fmla="*/ 5530320 h 5529240"/>
              </a:gdLst>
              <a:ahLst/>
              <a:cxnLst/>
              <a:rect l="textAreaLeft" t="textAreaTop" r="textAreaRight" b="textAreaBottom"/>
              <a:pathLst>
                <a:path w="6543675" h="5530215">
                  <a:moveTo>
                    <a:pt x="6543421" y="0"/>
                  </a:moveTo>
                  <a:lnTo>
                    <a:pt x="6543421" y="5530088"/>
                  </a:lnTo>
                </a:path>
                <a:path w="6543675" h="5530215">
                  <a:moveTo>
                    <a:pt x="0" y="3132328"/>
                  </a:moveTo>
                  <a:lnTo>
                    <a:pt x="6543421" y="3132328"/>
                  </a:lnTo>
                </a:path>
              </a:pathLst>
            </a:custGeom>
            <a:noFill/>
            <a:ln w="12700">
              <a:solidFill>
                <a:srgbClr val="BD4A47"/>
              </a:solidFill>
              <a:prstDash val="sys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38" name="object 12"/>
            <p:cNvPicPr/>
            <p:nvPr/>
          </p:nvPicPr>
          <p:blipFill>
            <a:blip r:embed="rId4"/>
            <a:stretch/>
          </p:blipFill>
          <p:spPr>
            <a:xfrm>
              <a:off x="45720" y="45720"/>
              <a:ext cx="1280880" cy="657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9" name="object 13"/>
            <p:cNvSpPr/>
            <p:nvPr/>
          </p:nvSpPr>
          <p:spPr>
            <a:xfrm>
              <a:off x="84240" y="61560"/>
              <a:ext cx="1208520" cy="584280"/>
            </a:xfrm>
            <a:custGeom>
              <a:avLst/>
              <a:gdLst>
                <a:gd name="textAreaLeft" fmla="*/ 0 w 1208520"/>
                <a:gd name="textAreaRight" fmla="*/ 1209600 w 1208520"/>
                <a:gd name="textAreaTop" fmla="*/ 0 h 584280"/>
                <a:gd name="textAreaBottom" fmla="*/ 585360 h 584280"/>
              </a:gdLst>
              <a:ahLst/>
              <a:cxnLst/>
              <a:rect l="textAreaLeft" t="textAreaTop" r="textAreaRight" b="textAreaBottom"/>
              <a:pathLst>
                <a:path w="1209675" h="585470">
                  <a:moveTo>
                    <a:pt x="0" y="292480"/>
                  </a:moveTo>
                  <a:lnTo>
                    <a:pt x="12284" y="233532"/>
                  </a:lnTo>
                  <a:lnTo>
                    <a:pt x="47518" y="178629"/>
                  </a:lnTo>
                  <a:lnTo>
                    <a:pt x="103268" y="128947"/>
                  </a:lnTo>
                  <a:lnTo>
                    <a:pt x="138077" y="106431"/>
                  </a:lnTo>
                  <a:lnTo>
                    <a:pt x="177104" y="85661"/>
                  </a:lnTo>
                  <a:lnTo>
                    <a:pt x="220045" y="66784"/>
                  </a:lnTo>
                  <a:lnTo>
                    <a:pt x="266595" y="49948"/>
                  </a:lnTo>
                  <a:lnTo>
                    <a:pt x="316451" y="35298"/>
                  </a:lnTo>
                  <a:lnTo>
                    <a:pt x="369308" y="22983"/>
                  </a:lnTo>
                  <a:lnTo>
                    <a:pt x="424864" y="13148"/>
                  </a:lnTo>
                  <a:lnTo>
                    <a:pt x="482813" y="5941"/>
                  </a:lnTo>
                  <a:lnTo>
                    <a:pt x="542853" y="1509"/>
                  </a:lnTo>
                  <a:lnTo>
                    <a:pt x="604678" y="0"/>
                  </a:lnTo>
                  <a:lnTo>
                    <a:pt x="666504" y="1509"/>
                  </a:lnTo>
                  <a:lnTo>
                    <a:pt x="726546" y="5941"/>
                  </a:lnTo>
                  <a:lnTo>
                    <a:pt x="784498" y="13148"/>
                  </a:lnTo>
                  <a:lnTo>
                    <a:pt x="840057" y="22983"/>
                  </a:lnTo>
                  <a:lnTo>
                    <a:pt x="892919" y="35298"/>
                  </a:lnTo>
                  <a:lnTo>
                    <a:pt x="942780" y="49948"/>
                  </a:lnTo>
                  <a:lnTo>
                    <a:pt x="989335" y="66784"/>
                  </a:lnTo>
                  <a:lnTo>
                    <a:pt x="1032281" y="85661"/>
                  </a:lnTo>
                  <a:lnTo>
                    <a:pt x="1071313" y="106431"/>
                  </a:lnTo>
                  <a:lnTo>
                    <a:pt x="1106128" y="128947"/>
                  </a:lnTo>
                  <a:lnTo>
                    <a:pt x="1136420" y="153062"/>
                  </a:lnTo>
                  <a:lnTo>
                    <a:pt x="1182224" y="205501"/>
                  </a:lnTo>
                  <a:lnTo>
                    <a:pt x="1206292" y="262574"/>
                  </a:lnTo>
                  <a:lnTo>
                    <a:pt x="1209414" y="292480"/>
                  </a:lnTo>
                  <a:lnTo>
                    <a:pt x="1206292" y="322387"/>
                  </a:lnTo>
                  <a:lnTo>
                    <a:pt x="1182224" y="379460"/>
                  </a:lnTo>
                  <a:lnTo>
                    <a:pt x="1136420" y="431899"/>
                  </a:lnTo>
                  <a:lnTo>
                    <a:pt x="1106128" y="456014"/>
                  </a:lnTo>
                  <a:lnTo>
                    <a:pt x="1071313" y="478530"/>
                  </a:lnTo>
                  <a:lnTo>
                    <a:pt x="1032281" y="499300"/>
                  </a:lnTo>
                  <a:lnTo>
                    <a:pt x="989335" y="518177"/>
                  </a:lnTo>
                  <a:lnTo>
                    <a:pt x="942780" y="535013"/>
                  </a:lnTo>
                  <a:lnTo>
                    <a:pt x="892919" y="549663"/>
                  </a:lnTo>
                  <a:lnTo>
                    <a:pt x="840057" y="561978"/>
                  </a:lnTo>
                  <a:lnTo>
                    <a:pt x="784498" y="571813"/>
                  </a:lnTo>
                  <a:lnTo>
                    <a:pt x="726546" y="579020"/>
                  </a:lnTo>
                  <a:lnTo>
                    <a:pt x="666504" y="583452"/>
                  </a:lnTo>
                  <a:lnTo>
                    <a:pt x="604678" y="584962"/>
                  </a:lnTo>
                  <a:lnTo>
                    <a:pt x="542853" y="583452"/>
                  </a:lnTo>
                  <a:lnTo>
                    <a:pt x="482813" y="579020"/>
                  </a:lnTo>
                  <a:lnTo>
                    <a:pt x="424864" y="571813"/>
                  </a:lnTo>
                  <a:lnTo>
                    <a:pt x="369308" y="561978"/>
                  </a:lnTo>
                  <a:lnTo>
                    <a:pt x="316451" y="549663"/>
                  </a:lnTo>
                  <a:lnTo>
                    <a:pt x="266595" y="535013"/>
                  </a:lnTo>
                  <a:lnTo>
                    <a:pt x="220045" y="518177"/>
                  </a:lnTo>
                  <a:lnTo>
                    <a:pt x="177104" y="499300"/>
                  </a:lnTo>
                  <a:lnTo>
                    <a:pt x="138077" y="478530"/>
                  </a:lnTo>
                  <a:lnTo>
                    <a:pt x="103268" y="456014"/>
                  </a:lnTo>
                  <a:lnTo>
                    <a:pt x="72980" y="431899"/>
                  </a:lnTo>
                  <a:lnTo>
                    <a:pt x="27184" y="379460"/>
                  </a:lnTo>
                  <a:lnTo>
                    <a:pt x="3121" y="322387"/>
                  </a:lnTo>
                  <a:lnTo>
                    <a:pt x="0" y="292480"/>
                  </a:lnTo>
                  <a:close/>
                </a:path>
              </a:pathLst>
            </a:custGeom>
            <a:noFill/>
            <a:ln w="9525">
              <a:solidFill>
                <a:srgbClr val="497DB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0" name="object 14"/>
          <p:cNvSpPr/>
          <p:nvPr/>
        </p:nvSpPr>
        <p:spPr>
          <a:xfrm>
            <a:off x="139680" y="178560"/>
            <a:ext cx="1122840" cy="2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ldNum" idx="37"/>
          </p:nvPr>
        </p:nvSpPr>
        <p:spPr>
          <a:xfrm>
            <a:off x="11375640" y="6464520"/>
            <a:ext cx="165240" cy="18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8160" indent="0" algn="l">
              <a:lnSpc>
                <a:spcPts val="1239"/>
              </a:lnSpc>
              <a:buNone/>
              <a:tabLst>
                <a:tab pos="0" algn="l"/>
              </a:tabLst>
              <a:def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marL="38160" indent="0" algn="l">
              <a:lnSpc>
                <a:spcPts val="1239"/>
              </a:lnSpc>
              <a:buNone/>
              <a:tabLst>
                <a:tab pos="0" algn="l"/>
              </a:tabLst>
            </a:pPr>
            <a:fld id="{82E1E3C5-B2E4-4E31-A49F-EDEB017C6EDD}" type="slidenum">
              <a: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rPr>
              <a:t>5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2" name="Picture 18"/>
          <p:cNvPicPr/>
          <p:nvPr/>
        </p:nvPicPr>
        <p:blipFill>
          <a:blip r:embed="rId5"/>
          <a:srcRect t="2558" r="1609" b="3960"/>
          <a:stretch/>
        </p:blipFill>
        <p:spPr>
          <a:xfrm>
            <a:off x="6840000" y="3600000"/>
            <a:ext cx="4853520" cy="274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Rectangle 142"/>
          <p:cNvSpPr/>
          <p:nvPr/>
        </p:nvSpPr>
        <p:spPr>
          <a:xfrm>
            <a:off x="173040" y="51539"/>
            <a:ext cx="1355400" cy="583321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Data Detectives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143"/>
          <p:cNvPicPr/>
          <p:nvPr/>
        </p:nvPicPr>
        <p:blipFill>
          <a:blip r:embed="rId6"/>
          <a:stretch/>
        </p:blipFill>
        <p:spPr>
          <a:xfrm>
            <a:off x="9906840" y="2160"/>
            <a:ext cx="2284920" cy="717840"/>
          </a:xfrm>
          <a:prstGeom prst="rect">
            <a:avLst/>
          </a:prstGeom>
          <a:noFill/>
          <a:ln w="3816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object 6" descr="https://www.sih.gov.in/img1/SIH-Logo.png"/>
          <p:cNvPicPr/>
          <p:nvPr/>
        </p:nvPicPr>
        <p:blipFill>
          <a:blip r:embed="rId2"/>
          <a:stretch/>
        </p:blipFill>
        <p:spPr>
          <a:xfrm>
            <a:off x="10819440" y="69840"/>
            <a:ext cx="1216080" cy="56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PlaceHolder 1"/>
          <p:cNvSpPr>
            <a:spLocks noGrp="1"/>
          </p:cNvSpPr>
          <p:nvPr>
            <p:ph type="sldNum" idx="38"/>
          </p:nvPr>
        </p:nvSpPr>
        <p:spPr>
          <a:xfrm>
            <a:off x="11375640" y="6464520"/>
            <a:ext cx="165240" cy="18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8160" indent="0" algn="l">
              <a:lnSpc>
                <a:spcPts val="1239"/>
              </a:lnSpc>
              <a:buNone/>
              <a:tabLst>
                <a:tab pos="0" algn="l"/>
              </a:tabLst>
              <a:def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marL="38160" indent="0" algn="l">
              <a:lnSpc>
                <a:spcPts val="1239"/>
              </a:lnSpc>
              <a:buNone/>
              <a:tabLst>
                <a:tab pos="0" algn="l"/>
              </a:tabLst>
            </a:pPr>
            <a:fld id="{D972A91D-915E-49C6-9B62-F05ED1DCCA1D}" type="slidenum">
              <a:rPr lang="en-IN" sz="1200" b="1" u="none" strike="noStrike" spc="-51">
                <a:solidFill>
                  <a:schemeClr val="lt1"/>
                </a:solidFill>
                <a:effectLst/>
                <a:uFillTx/>
                <a:latin typeface="Calibri"/>
              </a:rPr>
              <a:t>6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TextBox 19"/>
          <p:cNvSpPr/>
          <p:nvPr/>
        </p:nvSpPr>
        <p:spPr>
          <a:xfrm>
            <a:off x="180000" y="-1260000"/>
            <a:ext cx="10855440" cy="255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object 1"/>
          <p:cNvSpPr/>
          <p:nvPr/>
        </p:nvSpPr>
        <p:spPr>
          <a:xfrm>
            <a:off x="457560" y="58320"/>
            <a:ext cx="134208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 Detectives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3240000" y="180000"/>
            <a:ext cx="5759640" cy="882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RESEARCH AND REFERENCES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object 18"/>
          <p:cNvSpPr/>
          <p:nvPr/>
        </p:nvSpPr>
        <p:spPr>
          <a:xfrm>
            <a:off x="46080" y="360"/>
            <a:ext cx="2113920" cy="720000"/>
          </a:xfrm>
          <a:custGeom>
            <a:avLst/>
            <a:gdLst>
              <a:gd name="textAreaLeft" fmla="*/ 0 w 2113920"/>
              <a:gd name="textAreaRight" fmla="*/ 2115000 w 2113920"/>
              <a:gd name="textAreaTop" fmla="*/ 0 h 720000"/>
              <a:gd name="textAreaBottom" fmla="*/ 720720 h 720000"/>
            </a:gdLst>
            <a:ahLst/>
            <a:cxnLst/>
            <a:rect l="textAreaLeft" t="textAreaTop" r="textAreaRight" b="textAreaBottom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2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2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object 19"/>
          <p:cNvSpPr/>
          <p:nvPr/>
        </p:nvSpPr>
        <p:spPr>
          <a:xfrm>
            <a:off x="46080" y="360"/>
            <a:ext cx="2113920" cy="720000"/>
          </a:xfrm>
          <a:custGeom>
            <a:avLst/>
            <a:gdLst>
              <a:gd name="textAreaLeft" fmla="*/ 0 w 2113920"/>
              <a:gd name="textAreaRight" fmla="*/ 2115000 w 2113920"/>
              <a:gd name="textAreaTop" fmla="*/ 0 h 720000"/>
              <a:gd name="textAreaBottom" fmla="*/ 720720 h 720000"/>
            </a:gdLst>
            <a:ahLst/>
            <a:cxnLst/>
            <a:rect l="textAreaLeft" t="textAreaTop" r="textAreaRight" b="textAreaBottom"/>
            <a:pathLst>
              <a:path w="1916430" h="1248410">
                <a:moveTo>
                  <a:pt x="0" y="623569"/>
                </a:moveTo>
                <a:lnTo>
                  <a:pt x="1662" y="588009"/>
                </a:lnTo>
                <a:lnTo>
                  <a:pt x="1781" y="585469"/>
                </a:lnTo>
                <a:lnTo>
                  <a:pt x="7054" y="547369"/>
                </a:lnTo>
                <a:lnTo>
                  <a:pt x="15710" y="509269"/>
                </a:lnTo>
                <a:lnTo>
                  <a:pt x="42741" y="438149"/>
                </a:lnTo>
                <a:lnTo>
                  <a:pt x="60899" y="403859"/>
                </a:lnTo>
                <a:lnTo>
                  <a:pt x="82010" y="369569"/>
                </a:lnTo>
                <a:lnTo>
                  <a:pt x="105964" y="336549"/>
                </a:lnTo>
                <a:lnTo>
                  <a:pt x="132655" y="306069"/>
                </a:lnTo>
                <a:lnTo>
                  <a:pt x="161973" y="275589"/>
                </a:lnTo>
                <a:lnTo>
                  <a:pt x="193811" y="246379"/>
                </a:lnTo>
                <a:lnTo>
                  <a:pt x="228062" y="218439"/>
                </a:lnTo>
                <a:lnTo>
                  <a:pt x="264617" y="193039"/>
                </a:lnTo>
                <a:lnTo>
                  <a:pt x="303369" y="167639"/>
                </a:lnTo>
                <a:lnTo>
                  <a:pt x="344209" y="143509"/>
                </a:lnTo>
                <a:lnTo>
                  <a:pt x="387030" y="121919"/>
                </a:lnTo>
                <a:lnTo>
                  <a:pt x="431724" y="101599"/>
                </a:lnTo>
                <a:lnTo>
                  <a:pt x="478183" y="82549"/>
                </a:lnTo>
                <a:lnTo>
                  <a:pt x="526298" y="66039"/>
                </a:lnTo>
                <a:lnTo>
                  <a:pt x="575963" y="50799"/>
                </a:lnTo>
                <a:lnTo>
                  <a:pt x="627069" y="38099"/>
                </a:lnTo>
                <a:lnTo>
                  <a:pt x="679509" y="26669"/>
                </a:lnTo>
                <a:lnTo>
                  <a:pt x="733173" y="16509"/>
                </a:lnTo>
                <a:lnTo>
                  <a:pt x="787956" y="8889"/>
                </a:lnTo>
                <a:lnTo>
                  <a:pt x="843748" y="3809"/>
                </a:lnTo>
                <a:lnTo>
                  <a:pt x="900441" y="0"/>
                </a:lnTo>
                <a:lnTo>
                  <a:pt x="1015416" y="0"/>
                </a:lnTo>
                <a:lnTo>
                  <a:pt x="1072110" y="3809"/>
                </a:lnTo>
                <a:lnTo>
                  <a:pt x="1127902" y="8889"/>
                </a:lnTo>
                <a:lnTo>
                  <a:pt x="1182684" y="16509"/>
                </a:lnTo>
                <a:lnTo>
                  <a:pt x="1192355" y="19049"/>
                </a:lnTo>
                <a:lnTo>
                  <a:pt x="957929" y="19049"/>
                </a:lnTo>
                <a:lnTo>
                  <a:pt x="957929" y="38099"/>
                </a:lnTo>
                <a:lnTo>
                  <a:pt x="898867" y="38099"/>
                </a:lnTo>
                <a:lnTo>
                  <a:pt x="840907" y="41909"/>
                </a:lnTo>
                <a:lnTo>
                  <a:pt x="784147" y="48259"/>
                </a:lnTo>
                <a:lnTo>
                  <a:pt x="728686" y="55879"/>
                </a:lnTo>
                <a:lnTo>
                  <a:pt x="674624" y="66039"/>
                </a:lnTo>
                <a:lnTo>
                  <a:pt x="622060" y="77469"/>
                </a:lnTo>
                <a:lnTo>
                  <a:pt x="571092" y="91439"/>
                </a:lnTo>
                <a:lnTo>
                  <a:pt x="521821" y="107949"/>
                </a:lnTo>
                <a:lnTo>
                  <a:pt x="474346" y="125729"/>
                </a:lnTo>
                <a:lnTo>
                  <a:pt x="428765" y="144779"/>
                </a:lnTo>
                <a:lnTo>
                  <a:pt x="385178" y="165099"/>
                </a:lnTo>
                <a:lnTo>
                  <a:pt x="343684" y="187959"/>
                </a:lnTo>
                <a:lnTo>
                  <a:pt x="304383" y="212089"/>
                </a:lnTo>
                <a:lnTo>
                  <a:pt x="267373" y="237489"/>
                </a:lnTo>
                <a:lnTo>
                  <a:pt x="232753" y="264159"/>
                </a:lnTo>
                <a:lnTo>
                  <a:pt x="200624" y="292099"/>
                </a:lnTo>
                <a:lnTo>
                  <a:pt x="171084" y="321309"/>
                </a:lnTo>
                <a:lnTo>
                  <a:pt x="144232" y="351789"/>
                </a:lnTo>
                <a:lnTo>
                  <a:pt x="120167" y="382269"/>
                </a:lnTo>
                <a:lnTo>
                  <a:pt x="98989" y="415289"/>
                </a:lnTo>
                <a:lnTo>
                  <a:pt x="65691" y="481329"/>
                </a:lnTo>
                <a:lnTo>
                  <a:pt x="45130" y="551179"/>
                </a:lnTo>
                <a:lnTo>
                  <a:pt x="39029" y="604519"/>
                </a:lnTo>
                <a:lnTo>
                  <a:pt x="19049" y="604519"/>
                </a:lnTo>
                <a:lnTo>
                  <a:pt x="11653" y="605789"/>
                </a:lnTo>
                <a:lnTo>
                  <a:pt x="5595" y="610869"/>
                </a:lnTo>
                <a:lnTo>
                  <a:pt x="1503" y="615949"/>
                </a:lnTo>
                <a:lnTo>
                  <a:pt x="0" y="623569"/>
                </a:lnTo>
                <a:close/>
              </a:path>
              <a:path w="1916430" h="1248410">
                <a:moveTo>
                  <a:pt x="1288788" y="1210309"/>
                </a:moveTo>
                <a:lnTo>
                  <a:pt x="957929" y="1210309"/>
                </a:lnTo>
                <a:lnTo>
                  <a:pt x="1016990" y="1209039"/>
                </a:lnTo>
                <a:lnTo>
                  <a:pt x="1074951" y="1205229"/>
                </a:lnTo>
                <a:lnTo>
                  <a:pt x="1131711" y="1200149"/>
                </a:lnTo>
                <a:lnTo>
                  <a:pt x="1187172" y="1192529"/>
                </a:lnTo>
                <a:lnTo>
                  <a:pt x="1241234" y="1182369"/>
                </a:lnTo>
                <a:lnTo>
                  <a:pt x="1293798" y="1169669"/>
                </a:lnTo>
                <a:lnTo>
                  <a:pt x="1344765" y="1155699"/>
                </a:lnTo>
                <a:lnTo>
                  <a:pt x="1394036" y="1140459"/>
                </a:lnTo>
                <a:lnTo>
                  <a:pt x="1441511" y="1122679"/>
                </a:lnTo>
                <a:lnTo>
                  <a:pt x="1487092" y="1103629"/>
                </a:lnTo>
                <a:lnTo>
                  <a:pt x="1530679" y="1082039"/>
                </a:lnTo>
                <a:lnTo>
                  <a:pt x="1572173" y="1060449"/>
                </a:lnTo>
                <a:lnTo>
                  <a:pt x="1611475" y="1036319"/>
                </a:lnTo>
                <a:lnTo>
                  <a:pt x="1648485" y="1010919"/>
                </a:lnTo>
                <a:lnTo>
                  <a:pt x="1683104" y="984249"/>
                </a:lnTo>
                <a:lnTo>
                  <a:pt x="1715233" y="956309"/>
                </a:lnTo>
                <a:lnTo>
                  <a:pt x="1744774" y="927099"/>
                </a:lnTo>
                <a:lnTo>
                  <a:pt x="1771626" y="896619"/>
                </a:lnTo>
                <a:lnTo>
                  <a:pt x="1795690" y="864869"/>
                </a:lnTo>
                <a:lnTo>
                  <a:pt x="1816868" y="833119"/>
                </a:lnTo>
                <a:lnTo>
                  <a:pt x="1850167" y="765809"/>
                </a:lnTo>
                <a:lnTo>
                  <a:pt x="1870728" y="695959"/>
                </a:lnTo>
                <a:lnTo>
                  <a:pt x="1877758" y="623569"/>
                </a:lnTo>
                <a:lnTo>
                  <a:pt x="1875984" y="588009"/>
                </a:lnTo>
                <a:lnTo>
                  <a:pt x="1862092" y="516889"/>
                </a:lnTo>
                <a:lnTo>
                  <a:pt x="1835068" y="448309"/>
                </a:lnTo>
                <a:lnTo>
                  <a:pt x="1795705" y="382269"/>
                </a:lnTo>
                <a:lnTo>
                  <a:pt x="1771645" y="351789"/>
                </a:lnTo>
                <a:lnTo>
                  <a:pt x="1744796" y="321309"/>
                </a:lnTo>
                <a:lnTo>
                  <a:pt x="1715259" y="292099"/>
                </a:lnTo>
                <a:lnTo>
                  <a:pt x="1683134" y="264159"/>
                </a:lnTo>
                <a:lnTo>
                  <a:pt x="1648517" y="237489"/>
                </a:lnTo>
                <a:lnTo>
                  <a:pt x="1611510" y="212089"/>
                </a:lnTo>
                <a:lnTo>
                  <a:pt x="1572211" y="187959"/>
                </a:lnTo>
                <a:lnTo>
                  <a:pt x="1530719" y="165099"/>
                </a:lnTo>
                <a:lnTo>
                  <a:pt x="1487134" y="144779"/>
                </a:lnTo>
                <a:lnTo>
                  <a:pt x="1441554" y="125729"/>
                </a:lnTo>
                <a:lnTo>
                  <a:pt x="1394078" y="107949"/>
                </a:lnTo>
                <a:lnTo>
                  <a:pt x="1344806" y="91439"/>
                </a:lnTo>
                <a:lnTo>
                  <a:pt x="1293837" y="77469"/>
                </a:lnTo>
                <a:lnTo>
                  <a:pt x="1241269" y="66039"/>
                </a:lnTo>
                <a:lnTo>
                  <a:pt x="1187203" y="55879"/>
                </a:lnTo>
                <a:lnTo>
                  <a:pt x="1131737" y="48259"/>
                </a:lnTo>
                <a:lnTo>
                  <a:pt x="1074969" y="41909"/>
                </a:lnTo>
                <a:lnTo>
                  <a:pt x="1017000" y="38099"/>
                </a:lnTo>
                <a:lnTo>
                  <a:pt x="957929" y="38099"/>
                </a:lnTo>
                <a:lnTo>
                  <a:pt x="957929" y="19049"/>
                </a:lnTo>
                <a:lnTo>
                  <a:pt x="1192355" y="19049"/>
                </a:lnTo>
                <a:lnTo>
                  <a:pt x="1236349" y="26669"/>
                </a:lnTo>
                <a:lnTo>
                  <a:pt x="1288788" y="38099"/>
                </a:lnTo>
                <a:lnTo>
                  <a:pt x="1339894" y="50799"/>
                </a:lnTo>
                <a:lnTo>
                  <a:pt x="1389559" y="66039"/>
                </a:lnTo>
                <a:lnTo>
                  <a:pt x="1437675" y="82549"/>
                </a:lnTo>
                <a:lnTo>
                  <a:pt x="1484133" y="101599"/>
                </a:lnTo>
                <a:lnTo>
                  <a:pt x="1528827" y="121919"/>
                </a:lnTo>
                <a:lnTo>
                  <a:pt x="1571648" y="143509"/>
                </a:lnTo>
                <a:lnTo>
                  <a:pt x="1612488" y="167639"/>
                </a:lnTo>
                <a:lnTo>
                  <a:pt x="1651240" y="193039"/>
                </a:lnTo>
                <a:lnTo>
                  <a:pt x="1687795" y="218439"/>
                </a:lnTo>
                <a:lnTo>
                  <a:pt x="1722046" y="246379"/>
                </a:lnTo>
                <a:lnTo>
                  <a:pt x="1753885" y="275589"/>
                </a:lnTo>
                <a:lnTo>
                  <a:pt x="1783203" y="306069"/>
                </a:lnTo>
                <a:lnTo>
                  <a:pt x="1809893" y="336549"/>
                </a:lnTo>
                <a:lnTo>
                  <a:pt x="1833848" y="369569"/>
                </a:lnTo>
                <a:lnTo>
                  <a:pt x="1854958" y="403859"/>
                </a:lnTo>
                <a:lnTo>
                  <a:pt x="1873117" y="438149"/>
                </a:lnTo>
                <a:lnTo>
                  <a:pt x="1888216" y="473709"/>
                </a:lnTo>
                <a:lnTo>
                  <a:pt x="1908804" y="547369"/>
                </a:lnTo>
                <a:lnTo>
                  <a:pt x="1914076" y="585469"/>
                </a:lnTo>
                <a:lnTo>
                  <a:pt x="1915858" y="623569"/>
                </a:lnTo>
                <a:lnTo>
                  <a:pt x="1914191" y="660399"/>
                </a:lnTo>
                <a:lnTo>
                  <a:pt x="1908804" y="701039"/>
                </a:lnTo>
                <a:lnTo>
                  <a:pt x="1888216" y="774699"/>
                </a:lnTo>
                <a:lnTo>
                  <a:pt x="1873117" y="810259"/>
                </a:lnTo>
                <a:lnTo>
                  <a:pt x="1854958" y="844549"/>
                </a:lnTo>
                <a:lnTo>
                  <a:pt x="1833848" y="877569"/>
                </a:lnTo>
                <a:lnTo>
                  <a:pt x="1809893" y="910589"/>
                </a:lnTo>
                <a:lnTo>
                  <a:pt x="1783203" y="942339"/>
                </a:lnTo>
                <a:lnTo>
                  <a:pt x="1753885" y="972819"/>
                </a:lnTo>
                <a:lnTo>
                  <a:pt x="1722046" y="1000759"/>
                </a:lnTo>
                <a:lnTo>
                  <a:pt x="1687795" y="1028699"/>
                </a:lnTo>
                <a:lnTo>
                  <a:pt x="1651240" y="1055369"/>
                </a:lnTo>
                <a:lnTo>
                  <a:pt x="1612488" y="1080769"/>
                </a:lnTo>
                <a:lnTo>
                  <a:pt x="1571648" y="1103629"/>
                </a:lnTo>
                <a:lnTo>
                  <a:pt x="1528827" y="1125219"/>
                </a:lnTo>
                <a:lnTo>
                  <a:pt x="1484133" y="1145539"/>
                </a:lnTo>
                <a:lnTo>
                  <a:pt x="1437675" y="1164589"/>
                </a:lnTo>
                <a:lnTo>
                  <a:pt x="1389559" y="1181099"/>
                </a:lnTo>
                <a:lnTo>
                  <a:pt x="1339894" y="1196339"/>
                </a:lnTo>
                <a:lnTo>
                  <a:pt x="1288788" y="1210309"/>
                </a:lnTo>
                <a:close/>
              </a:path>
              <a:path w="1916430" h="1248410">
                <a:moveTo>
                  <a:pt x="19049" y="642619"/>
                </a:moveTo>
                <a:lnTo>
                  <a:pt x="11653" y="641349"/>
                </a:lnTo>
                <a:lnTo>
                  <a:pt x="5595" y="637539"/>
                </a:lnTo>
                <a:lnTo>
                  <a:pt x="1503" y="631189"/>
                </a:lnTo>
                <a:lnTo>
                  <a:pt x="0" y="623569"/>
                </a:lnTo>
                <a:lnTo>
                  <a:pt x="1503" y="615949"/>
                </a:lnTo>
                <a:lnTo>
                  <a:pt x="5595" y="610869"/>
                </a:lnTo>
                <a:lnTo>
                  <a:pt x="11653" y="605789"/>
                </a:lnTo>
                <a:lnTo>
                  <a:pt x="19049" y="604519"/>
                </a:lnTo>
                <a:lnTo>
                  <a:pt x="26446" y="605789"/>
                </a:lnTo>
                <a:lnTo>
                  <a:pt x="32504" y="610869"/>
                </a:lnTo>
                <a:lnTo>
                  <a:pt x="36596" y="615949"/>
                </a:lnTo>
                <a:lnTo>
                  <a:pt x="38100" y="623569"/>
                </a:lnTo>
                <a:lnTo>
                  <a:pt x="36596" y="631189"/>
                </a:lnTo>
                <a:lnTo>
                  <a:pt x="32504" y="637539"/>
                </a:lnTo>
                <a:lnTo>
                  <a:pt x="26446" y="641349"/>
                </a:lnTo>
                <a:lnTo>
                  <a:pt x="19049" y="642619"/>
                </a:lnTo>
                <a:close/>
              </a:path>
              <a:path w="1916430" h="1248410">
                <a:moveTo>
                  <a:pt x="38100" y="623569"/>
                </a:moveTo>
                <a:lnTo>
                  <a:pt x="36596" y="615949"/>
                </a:lnTo>
                <a:lnTo>
                  <a:pt x="32504" y="610869"/>
                </a:lnTo>
                <a:lnTo>
                  <a:pt x="26446" y="605789"/>
                </a:lnTo>
                <a:lnTo>
                  <a:pt x="19049" y="604519"/>
                </a:lnTo>
                <a:lnTo>
                  <a:pt x="39029" y="604519"/>
                </a:lnTo>
                <a:lnTo>
                  <a:pt x="38100" y="62356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00441" y="1247139"/>
                </a:lnTo>
                <a:lnTo>
                  <a:pt x="843748" y="1244599"/>
                </a:lnTo>
                <a:lnTo>
                  <a:pt x="787956" y="1238249"/>
                </a:lnTo>
                <a:lnTo>
                  <a:pt x="733173" y="1230629"/>
                </a:lnTo>
                <a:lnTo>
                  <a:pt x="679509" y="1221739"/>
                </a:lnTo>
                <a:lnTo>
                  <a:pt x="627069" y="1210309"/>
                </a:lnTo>
                <a:lnTo>
                  <a:pt x="575963" y="1196339"/>
                </a:lnTo>
                <a:lnTo>
                  <a:pt x="526298" y="1181099"/>
                </a:lnTo>
                <a:lnTo>
                  <a:pt x="478183" y="1164589"/>
                </a:lnTo>
                <a:lnTo>
                  <a:pt x="431724" y="1145539"/>
                </a:lnTo>
                <a:lnTo>
                  <a:pt x="387030" y="1125219"/>
                </a:lnTo>
                <a:lnTo>
                  <a:pt x="344209" y="1103629"/>
                </a:lnTo>
                <a:lnTo>
                  <a:pt x="303369" y="1080769"/>
                </a:lnTo>
                <a:lnTo>
                  <a:pt x="264617" y="1055369"/>
                </a:lnTo>
                <a:lnTo>
                  <a:pt x="228062" y="1028699"/>
                </a:lnTo>
                <a:lnTo>
                  <a:pt x="193811" y="1000759"/>
                </a:lnTo>
                <a:lnTo>
                  <a:pt x="161973" y="972819"/>
                </a:lnTo>
                <a:lnTo>
                  <a:pt x="132655" y="942339"/>
                </a:lnTo>
                <a:lnTo>
                  <a:pt x="105964" y="910589"/>
                </a:lnTo>
                <a:lnTo>
                  <a:pt x="82010" y="877569"/>
                </a:lnTo>
                <a:lnTo>
                  <a:pt x="60899" y="844549"/>
                </a:lnTo>
                <a:lnTo>
                  <a:pt x="42741" y="810259"/>
                </a:lnTo>
                <a:lnTo>
                  <a:pt x="27642" y="774699"/>
                </a:lnTo>
                <a:lnTo>
                  <a:pt x="15710" y="737869"/>
                </a:lnTo>
                <a:lnTo>
                  <a:pt x="1781" y="662939"/>
                </a:lnTo>
                <a:lnTo>
                  <a:pt x="0" y="623569"/>
                </a:lnTo>
                <a:lnTo>
                  <a:pt x="1503" y="631189"/>
                </a:lnTo>
                <a:lnTo>
                  <a:pt x="5595" y="637539"/>
                </a:lnTo>
                <a:lnTo>
                  <a:pt x="11653" y="641349"/>
                </a:lnTo>
                <a:lnTo>
                  <a:pt x="19049" y="642619"/>
                </a:lnTo>
                <a:lnTo>
                  <a:pt x="39029" y="642619"/>
                </a:lnTo>
                <a:lnTo>
                  <a:pt x="39874" y="660399"/>
                </a:lnTo>
                <a:lnTo>
                  <a:pt x="53768" y="731519"/>
                </a:lnTo>
                <a:lnTo>
                  <a:pt x="80797" y="800099"/>
                </a:lnTo>
                <a:lnTo>
                  <a:pt x="120167" y="864869"/>
                </a:lnTo>
                <a:lnTo>
                  <a:pt x="144232" y="896619"/>
                </a:lnTo>
                <a:lnTo>
                  <a:pt x="171084" y="927099"/>
                </a:lnTo>
                <a:lnTo>
                  <a:pt x="200624" y="956309"/>
                </a:lnTo>
                <a:lnTo>
                  <a:pt x="232753" y="984249"/>
                </a:lnTo>
                <a:lnTo>
                  <a:pt x="267373" y="1010919"/>
                </a:lnTo>
                <a:lnTo>
                  <a:pt x="304383" y="1036319"/>
                </a:lnTo>
                <a:lnTo>
                  <a:pt x="343684" y="1060449"/>
                </a:lnTo>
                <a:lnTo>
                  <a:pt x="385178" y="1082039"/>
                </a:lnTo>
                <a:lnTo>
                  <a:pt x="428765" y="1103629"/>
                </a:lnTo>
                <a:lnTo>
                  <a:pt x="474346" y="1122679"/>
                </a:lnTo>
                <a:lnTo>
                  <a:pt x="521821" y="1140459"/>
                </a:lnTo>
                <a:lnTo>
                  <a:pt x="571092" y="1155699"/>
                </a:lnTo>
                <a:lnTo>
                  <a:pt x="622060" y="1169669"/>
                </a:lnTo>
                <a:lnTo>
                  <a:pt x="674624" y="1182369"/>
                </a:lnTo>
                <a:lnTo>
                  <a:pt x="728686" y="1192529"/>
                </a:lnTo>
                <a:lnTo>
                  <a:pt x="784147" y="1200149"/>
                </a:lnTo>
                <a:lnTo>
                  <a:pt x="840907" y="1205229"/>
                </a:lnTo>
                <a:lnTo>
                  <a:pt x="898867" y="1209039"/>
                </a:lnTo>
                <a:lnTo>
                  <a:pt x="957929" y="1210309"/>
                </a:lnTo>
                <a:lnTo>
                  <a:pt x="1287881" y="1210309"/>
                </a:lnTo>
                <a:lnTo>
                  <a:pt x="1236349" y="1221739"/>
                </a:lnTo>
                <a:lnTo>
                  <a:pt x="1192355" y="1229359"/>
                </a:lnTo>
                <a:lnTo>
                  <a:pt x="957929" y="1229359"/>
                </a:lnTo>
                <a:lnTo>
                  <a:pt x="957929" y="1248409"/>
                </a:lnTo>
                <a:close/>
              </a:path>
              <a:path w="1916430" h="1248410">
                <a:moveTo>
                  <a:pt x="39029" y="642619"/>
                </a:moveTo>
                <a:lnTo>
                  <a:pt x="19049" y="642619"/>
                </a:lnTo>
                <a:lnTo>
                  <a:pt x="26446" y="641349"/>
                </a:lnTo>
                <a:lnTo>
                  <a:pt x="32504" y="637539"/>
                </a:lnTo>
                <a:lnTo>
                  <a:pt x="36596" y="631189"/>
                </a:lnTo>
                <a:lnTo>
                  <a:pt x="38100" y="623569"/>
                </a:lnTo>
                <a:lnTo>
                  <a:pt x="38967" y="641349"/>
                </a:lnTo>
                <a:lnTo>
                  <a:pt x="39029" y="642619"/>
                </a:lnTo>
                <a:close/>
              </a:path>
              <a:path w="1916430" h="1248410">
                <a:moveTo>
                  <a:pt x="957929" y="1248409"/>
                </a:moveTo>
                <a:lnTo>
                  <a:pt x="957929" y="1229359"/>
                </a:lnTo>
                <a:lnTo>
                  <a:pt x="1192355" y="1229359"/>
                </a:lnTo>
                <a:lnTo>
                  <a:pt x="1127902" y="1238249"/>
                </a:lnTo>
                <a:lnTo>
                  <a:pt x="1072110" y="1244599"/>
                </a:lnTo>
                <a:lnTo>
                  <a:pt x="1015416" y="1247139"/>
                </a:lnTo>
                <a:lnTo>
                  <a:pt x="957929" y="1248409"/>
                </a:lnTo>
                <a:close/>
              </a:path>
            </a:pathLst>
          </a:custGeom>
          <a:solidFill>
            <a:srgbClr val="8064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Picture 151"/>
          <p:cNvPicPr/>
          <p:nvPr/>
        </p:nvPicPr>
        <p:blipFill>
          <a:blip r:embed="rId3"/>
          <a:stretch/>
        </p:blipFill>
        <p:spPr>
          <a:xfrm>
            <a:off x="10131120" y="0"/>
            <a:ext cx="2060640" cy="71964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53" name="TextBox 152"/>
          <p:cNvSpPr txBox="1"/>
          <p:nvPr/>
        </p:nvSpPr>
        <p:spPr>
          <a:xfrm>
            <a:off x="180000" y="720000"/>
            <a:ext cx="5400000" cy="20628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MPLADS Guidelines — Ministry of Statistics and Programme Implementation (MoSPI)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/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governing document for the scheme, setting the sanction timeline, completion norm, District Authority responsibilities, and SC/ST fund earmarks that define what counts as "on time" and "compliant" for any MPLADS work. </a:t>
            </a: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hlinkClick r:id="rId4"/>
              </a:rPr>
              <a:t>Link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180000" y="3066120"/>
            <a:ext cx="5400000" cy="13975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IN" sz="2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MPLADS Data Portal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/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ministry's own portal listing recommended, sanctioned, and completed works, fund releases, and utilisation status per constituency — the primary data source the system would need to run on. </a:t>
            </a: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hlinkClick r:id="rId5"/>
              </a:rPr>
              <a:t>Link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180000" y="4719600"/>
            <a:ext cx="11700000" cy="1198875"/>
          </a:xfrm>
          <a:prstGeom prst="rect">
            <a:avLst/>
          </a:prstGeom>
          <a:noFill/>
          <a:ln w="3816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r>
              <a:rPr lang="en-IN" sz="18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Machine Learning for Public-Sector Cost Anomalies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/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This 2025 IMF working paper explores how cost accounting and machine learning can support budget credibility and corruption detection in public financial management, including anomaly detection in cost data. 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hlinkClick r:id="rId6"/>
              </a:rPr>
              <a:t>Link</a:t>
            </a:r>
            <a:endParaRPr lang="en-IN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7020000" y="826560"/>
            <a:ext cx="8640000" cy="7934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en-IN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CAG Performance Audit of  MPLADS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020000" y="1299240"/>
            <a:ext cx="4860000" cy="135576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lstStyle/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Comptroller and Auditor General's 2010 audit documents real irregularities in fund management and work selection across District Authorities — the closest thing to ground-truth examples of anomalies in MPLADS. </a:t>
            </a: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hlinkClick r:id="rId7"/>
              </a:rPr>
              <a:t>Link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6972120" y="2880000"/>
            <a:ext cx="5220000" cy="21751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IN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Closest Method Analogue: Unlabeled Expense Anomaly Detection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This 2026 study applies ensemble anomaly detection to unlabeled Brazilian parliamentary expense data — the same data condition MPLADS anomaly detection faces, since no fraud labels exist for dataset. </a:t>
            </a: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hlinkClick r:id="rId8"/>
              </a:rPr>
              <a:t>Link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</TotalTime>
  <Words>1134</Words>
  <Application>Microsoft Office PowerPoint</Application>
  <PresentationFormat>Widescreen</PresentationFormat>
  <Paragraphs>108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Symbol</vt:lpstr>
      <vt:lpstr>times new roman</vt:lpstr>
      <vt:lpstr>times new roman</vt:lpstr>
      <vt:lpstr>Wingdings</vt:lpstr>
      <vt:lpstr>Office Theme</vt:lpstr>
      <vt:lpstr>1_Office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dc:description/>
  <cp:lastModifiedBy>Amizhthan A</cp:lastModifiedBy>
  <cp:revision>8</cp:revision>
  <dcterms:created xsi:type="dcterms:W3CDTF">2026-09-07T08:36:31Z</dcterms:created>
  <dcterms:modified xsi:type="dcterms:W3CDTF">2026-09-28T05:57:42Z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2025-10-15T00:00:00Z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2026-09-07T00:00:00Z</vt:filetime>
  </property>
  <property fmtid="{D5CDD505-2E9C-101B-9397-08002B2CF9AE}" pid="6" name="PresentationFormat">
    <vt:lpwstr>Widescreen</vt:lpwstr>
  </property>
  <property fmtid="{D5CDD505-2E9C-101B-9397-08002B2CF9AE}" pid="7" name="Producer">
    <vt:lpwstr>Microsoft® PowerPoint® 2021</vt:lpwstr>
  </property>
  <property fmtid="{D5CDD505-2E9C-101B-9397-08002B2CF9AE}" pid="8" name="Slides">
    <vt:i4>7</vt:i4>
  </property>
</Properties>
</file>